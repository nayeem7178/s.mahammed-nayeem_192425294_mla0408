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Lst>
  <p:sldSz cy="6858000" cx="12192000"/>
  <p:notesSz cx="6858000" cy="9144000"/>
  <p:embeddedFontLst>
    <p:embeddedFont>
      <p:font typeface="Play"/>
      <p:regular r:id="rId27"/>
      <p:bold r:id="rId2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9" roundtripDataSignature="AMtx7mgzE1iBYgtxHkLw7fRiAAQC7F+hL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8CCC7983-BF4C-475B-9986-FC50F451A8D0}">
  <a:tblStyle styleId="{8CCC7983-BF4C-475B-9986-FC50F451A8D0}" styleName="Table_0">
    <a:wholeTbl>
      <a:tcTxStyle b="off" i="off">
        <a:font>
          <a:latin typeface="Aptos"/>
          <a:ea typeface="Aptos"/>
          <a:cs typeface="Aptos"/>
        </a:font>
        <a:schemeClr val="dk1"/>
      </a:tcTxStyle>
      <a:tcStyle>
        <a:tcBdr>
          <a:left>
            <a:ln cap="flat" cmpd="sng" w="12700">
              <a:solidFill>
                <a:schemeClr val="dk1"/>
              </a:solidFill>
              <a:prstDash val="solid"/>
              <a:round/>
              <a:headEnd len="sm" w="sm" type="none"/>
              <a:tailEnd len="sm" w="sm" type="none"/>
            </a:ln>
          </a:left>
          <a:right>
            <a:ln cap="flat" cmpd="sng" w="12700">
              <a:solidFill>
                <a:schemeClr val="dk1"/>
              </a:solidFill>
              <a:prstDash val="solid"/>
              <a:round/>
              <a:headEnd len="sm" w="sm" type="none"/>
              <a:tailEnd len="sm" w="sm" type="none"/>
            </a:ln>
          </a:right>
          <a:top>
            <a:ln cap="flat" cmpd="sng" w="12700">
              <a:solidFill>
                <a:schemeClr val="dk1"/>
              </a:solidFill>
              <a:prstDash val="solid"/>
              <a:round/>
              <a:headEnd len="sm" w="sm" type="none"/>
              <a:tailEnd len="sm" w="sm" type="none"/>
            </a:ln>
          </a:top>
          <a:bottom>
            <a:ln cap="flat" cmpd="sng" w="12700">
              <a:solidFill>
                <a:schemeClr val="dk1"/>
              </a:solidFill>
              <a:prstDash val="solid"/>
              <a:round/>
              <a:headEnd len="sm" w="sm" type="none"/>
              <a:tailEnd len="sm" w="sm" type="none"/>
            </a:ln>
          </a:bottom>
          <a:insideH>
            <a:ln cap="flat" cmpd="sng" w="12700">
              <a:solidFill>
                <a:schemeClr val="dk1"/>
              </a:solidFill>
              <a:prstDash val="solid"/>
              <a:round/>
              <a:headEnd len="sm" w="sm" type="none"/>
              <a:tailEnd len="sm" w="sm" type="none"/>
            </a:ln>
          </a:insideH>
          <a:insideV>
            <a:ln cap="flat" cmpd="sng" w="12700">
              <a:solidFill>
                <a:schemeClr val="dk1"/>
              </a:solidFill>
              <a:prstDash val="solid"/>
              <a:round/>
              <a:headEnd len="sm" w="sm" type="none"/>
              <a:tailEnd len="sm" w="sm" type="none"/>
            </a:ln>
          </a:insideV>
        </a:tcBdr>
        <a:fill>
          <a:solidFill>
            <a:srgbClr val="FFFFFF">
              <a:alpha val="0"/>
            </a:srgbClr>
          </a:solidFill>
        </a:fill>
      </a:tcStyle>
    </a:wholeTbl>
    <a:band1H>
      <a:tcTxStyle/>
      <a:tcStyle>
        <a:fill>
          <a:solidFill>
            <a:schemeClr val="dk1">
              <a:alpha val="20000"/>
            </a:schemeClr>
          </a:solidFill>
        </a:fill>
      </a:tcStyle>
    </a:band1H>
    <a:band2H>
      <a:tcTxStyle/>
    </a:band2H>
    <a:band1V>
      <a:tcTxStyle/>
      <a:tcStyle>
        <a:fill>
          <a:solidFill>
            <a:schemeClr val="dk1">
              <a:alpha val="20000"/>
            </a:schemeClr>
          </a:solidFill>
        </a:fill>
      </a:tcStyle>
    </a:band1V>
    <a:band2V>
      <a:tcTxStyle/>
    </a:band2V>
    <a:lastCol>
      <a:tcTxStyle b="on" i="off"/>
    </a:lastCol>
    <a:firstCol>
      <a:tcTxStyle b="on" i="off"/>
    </a:firstCol>
    <a:lastRow>
      <a:tcTxStyle b="on" i="off"/>
      <a:tcStyle>
        <a:tcBdr>
          <a:top>
            <a:ln cap="flat" cmpd="sng" w="50800">
              <a:solidFill>
                <a:schemeClr val="dk1"/>
              </a:solidFill>
              <a:prstDash val="solid"/>
              <a:round/>
              <a:headEnd len="sm" w="sm" type="none"/>
              <a:tailEnd len="sm" w="sm" type="none"/>
            </a:ln>
          </a:top>
        </a:tcBdr>
        <a:fill>
          <a:solidFill>
            <a:srgbClr val="FFFFFF">
              <a:alpha val="0"/>
            </a:srgbClr>
          </a:solidFill>
        </a:fill>
      </a:tcStyle>
    </a:lastRow>
    <a:seCell>
      <a:tcTxStyle/>
    </a:seCell>
    <a:swCell>
      <a:tcTxStyle/>
    </a:swCell>
    <a:firstRow>
      <a:tcTxStyle b="on" i="off"/>
      <a:tcStyle>
        <a:tcBdr>
          <a:bottom>
            <a:ln cap="flat" cmpd="sng" w="25400">
              <a:solidFill>
                <a:schemeClr val="dk1"/>
              </a:solidFill>
              <a:prstDash val="solid"/>
              <a:round/>
              <a:headEnd len="sm" w="sm" type="none"/>
              <a:tailEnd len="sm" w="sm" type="none"/>
            </a:ln>
          </a:bottom>
        </a:tcBdr>
        <a:fill>
          <a:solidFill>
            <a:srgbClr val="FFFFFF">
              <a:alpha val="0"/>
            </a:srgbClr>
          </a:solidFill>
        </a:fill>
      </a:tcStyle>
    </a:firstRow>
    <a:neCell>
      <a:tcTxStyle/>
    </a:neCell>
    <a:nwCell>
      <a:tcTxStyle/>
    </a:nwCell>
  </a:tblStyle>
</a:tblStyleLst>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font" Target="fonts/Play-bold.fntdata"/><Relationship Id="rId27" Type="http://schemas.openxmlformats.org/officeDocument/2006/relationships/font" Target="fonts/Play-regular.fntdata"/><Relationship Id="rId5" Type="http://schemas.openxmlformats.org/officeDocument/2006/relationships/notesMaster" Target="notesMasters/notesMaster1.xml"/><Relationship Id="rId6" Type="http://schemas.openxmlformats.org/officeDocument/2006/relationships/slide" Target="slides/slide1.xml"/><Relationship Id="rId29" Type="http://customschemas.google.com/relationships/presentationmetadata" Target="metadata"/><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indent="-228600" lvl="1" marL="914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2pPr>
            <a:lvl3pPr indent="-228600" lvl="2" marL="1371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3pPr>
            <a:lvl4pPr indent="-228600" lvl="3" marL="1828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4pPr>
            <a:lvl5pPr indent="-228600" lvl="4" marL="22860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5pPr>
            <a:lvl6pPr indent="-228600" lvl="5" marL="27432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6pPr>
            <a:lvl7pPr indent="-228600" lvl="6" marL="32004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7pPr>
            <a:lvl8pPr indent="-228600" lvl="7" marL="36576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8pPr>
            <a:lvl9pPr indent="-228600" lvl="8" marL="411480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Arial"/>
                <a:ea typeface="Arial"/>
                <a:cs typeface="Arial"/>
                <a:sym typeface="Arial"/>
              </a:rPr>
              <a:t>‹#›</a:t>
            </a:fld>
            <a:endParaRPr b="0" i="0" sz="1200" u="none" cap="none" strike="noStrike">
              <a:solidFill>
                <a:schemeClr val="dk1"/>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6" name="Google Shape;86;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200"/>
              <a:buFont typeface="Arial"/>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p2: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95" name="Google Shape;95;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p3: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04" name="Google Shape;104;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2" name="Google Shape;112;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13" name="Google Shape;113;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p5: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21" name="Google Shape;121;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p6: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0" name="Google Shape;130;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p7: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38" name="Google Shape;138;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5" name="Shape 145"/>
        <p:cNvGrpSpPr/>
        <p:nvPr/>
      </p:nvGrpSpPr>
      <p:grpSpPr>
        <a:xfrm>
          <a:off x="0" y="0"/>
          <a:ext cx="0" cy="0"/>
          <a:chOff x="0" y="0"/>
          <a:chExt cx="0" cy="0"/>
        </a:xfrm>
      </p:grpSpPr>
      <p:sp>
        <p:nvSpPr>
          <p:cNvPr id="146" name="Google Shape;146;p8: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47" name="Google Shape;147;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p9: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55" name="Google Shape;155;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p1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63" name="Google Shape;163;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200"/>
              <a:buFont typeface="Arial"/>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p1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2" name="Google Shape;172;p1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200"/>
              <a:buFont typeface="Arial"/>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p1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0" name="Google Shape;180;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200"/>
              <a:buFont typeface="Arial"/>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 name="Shape 187"/>
        <p:cNvGrpSpPr/>
        <p:nvPr/>
      </p:nvGrpSpPr>
      <p:grpSpPr>
        <a:xfrm>
          <a:off x="0" y="0"/>
          <a:ext cx="0" cy="0"/>
          <a:chOff x="0" y="0"/>
          <a:chExt cx="0" cy="0"/>
        </a:xfrm>
      </p:grpSpPr>
      <p:sp>
        <p:nvSpPr>
          <p:cNvPr id="188" name="Google Shape;188;p1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89" name="Google Shape;189;p1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200"/>
              <a:buFont typeface="Arial"/>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 name="Shape 195"/>
        <p:cNvGrpSpPr/>
        <p:nvPr/>
      </p:nvGrpSpPr>
      <p:grpSpPr>
        <a:xfrm>
          <a:off x="0" y="0"/>
          <a:ext cx="0" cy="0"/>
          <a:chOff x="0" y="0"/>
          <a:chExt cx="0" cy="0"/>
        </a:xfrm>
      </p:grpSpPr>
      <p:sp>
        <p:nvSpPr>
          <p:cNvPr id="196" name="Google Shape;196;p1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97" name="Google Shape;197;p1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200"/>
              <a:buFont typeface="Arial"/>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4" name="Shape 204"/>
        <p:cNvGrpSpPr/>
        <p:nvPr/>
      </p:nvGrpSpPr>
      <p:grpSpPr>
        <a:xfrm>
          <a:off x="0" y="0"/>
          <a:ext cx="0" cy="0"/>
          <a:chOff x="0" y="0"/>
          <a:chExt cx="0" cy="0"/>
        </a:xfrm>
      </p:grpSpPr>
      <p:sp>
        <p:nvSpPr>
          <p:cNvPr id="205" name="Google Shape;205;p1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6" name="Google Shape;206;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200"/>
              <a:buFont typeface="Arial"/>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2" name="Shape 212"/>
        <p:cNvGrpSpPr/>
        <p:nvPr/>
      </p:nvGrpSpPr>
      <p:grpSpPr>
        <a:xfrm>
          <a:off x="0" y="0"/>
          <a:ext cx="0" cy="0"/>
          <a:chOff x="0" y="0"/>
          <a:chExt cx="0" cy="0"/>
        </a:xfrm>
      </p:grpSpPr>
      <p:sp>
        <p:nvSpPr>
          <p:cNvPr id="213" name="Google Shape;213;p1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4" name="Google Shape;214;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200"/>
              <a:buFont typeface="Arial"/>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p1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23" name="Google Shape;223;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200"/>
              <a:buFont typeface="Arial"/>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p1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0" name="Google Shape;230;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200"/>
              <a:buFont typeface="Arial"/>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7" name="Shape 237"/>
        <p:cNvGrpSpPr/>
        <p:nvPr/>
      </p:nvGrpSpPr>
      <p:grpSpPr>
        <a:xfrm>
          <a:off x="0" y="0"/>
          <a:ext cx="0" cy="0"/>
          <a:chOff x="0" y="0"/>
          <a:chExt cx="0" cy="0"/>
        </a:xfrm>
      </p:grpSpPr>
      <p:sp>
        <p:nvSpPr>
          <p:cNvPr id="238" name="Google Shape;238;p1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39" name="Google Shape;239;p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200"/>
              <a:buFont typeface="Arial"/>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6" name="Shape 246"/>
        <p:cNvGrpSpPr/>
        <p:nvPr/>
      </p:nvGrpSpPr>
      <p:grpSpPr>
        <a:xfrm>
          <a:off x="0" y="0"/>
          <a:ext cx="0" cy="0"/>
          <a:chOff x="0" y="0"/>
          <a:chExt cx="0" cy="0"/>
        </a:xfrm>
      </p:grpSpPr>
      <p:sp>
        <p:nvSpPr>
          <p:cNvPr id="247" name="Google Shape;247;p2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48" name="Google Shape;248;p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200"/>
              <a:buFont typeface="Arial"/>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p21:notes"/>
          <p:cNvSpPr txBox="1"/>
          <p:nvPr>
            <p:ph idx="1" type="body"/>
          </p:nvPr>
        </p:nvSpPr>
        <p:spPr>
          <a:xfrm>
            <a:off x="685800" y="4400550"/>
            <a:ext cx="5486400" cy="360045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56" name="Google Shape;256;p2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5" name="Shape 15"/>
        <p:cNvGrpSpPr/>
        <p:nvPr/>
      </p:nvGrpSpPr>
      <p:grpSpPr>
        <a:xfrm>
          <a:off x="0" y="0"/>
          <a:ext cx="0" cy="0"/>
          <a:chOff x="0" y="0"/>
          <a:chExt cx="0" cy="0"/>
        </a:xfrm>
      </p:grpSpPr>
      <p:sp>
        <p:nvSpPr>
          <p:cNvPr id="16" name="Google Shape;16;p2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2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 name="Google Shape;18;p2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2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0" name="Shape 20"/>
        <p:cNvGrpSpPr/>
        <p:nvPr/>
      </p:nvGrpSpPr>
      <p:grpSpPr>
        <a:xfrm>
          <a:off x="0" y="0"/>
          <a:ext cx="0" cy="0"/>
          <a:chOff x="0" y="0"/>
          <a:chExt cx="0" cy="0"/>
        </a:xfrm>
      </p:grpSpPr>
      <p:sp>
        <p:nvSpPr>
          <p:cNvPr id="21" name="Google Shape;21;p2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2" name="Google Shape;22;p24"/>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3" name="Google Shape;23;p2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 name="Google Shape;24;p2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2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6" name="Shape 26"/>
        <p:cNvGrpSpPr/>
        <p:nvPr/>
      </p:nvGrpSpPr>
      <p:grpSpPr>
        <a:xfrm>
          <a:off x="0" y="0"/>
          <a:ext cx="0" cy="0"/>
          <a:chOff x="0" y="0"/>
          <a:chExt cx="0" cy="0"/>
        </a:xfrm>
      </p:grpSpPr>
      <p:sp>
        <p:nvSpPr>
          <p:cNvPr id="27" name="Google Shape;27;p2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 name="Google Shape;28;p2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 name="Google Shape;29;p2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30" name="Shape 30"/>
        <p:cNvGrpSpPr/>
        <p:nvPr/>
      </p:nvGrpSpPr>
      <p:grpSpPr>
        <a:xfrm>
          <a:off x="0" y="0"/>
          <a:ext cx="0" cy="0"/>
          <a:chOff x="0" y="0"/>
          <a:chExt cx="0" cy="0"/>
        </a:xfrm>
      </p:grpSpPr>
      <p:sp>
        <p:nvSpPr>
          <p:cNvPr id="31" name="Google Shape;31;p26"/>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Play"/>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2" name="Google Shape;32;p26"/>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33" name="Google Shape;33;p2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2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2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36" name="Shape 36"/>
        <p:cNvGrpSpPr/>
        <p:nvPr/>
      </p:nvGrpSpPr>
      <p:grpSpPr>
        <a:xfrm>
          <a:off x="0" y="0"/>
          <a:ext cx="0" cy="0"/>
          <a:chOff x="0" y="0"/>
          <a:chExt cx="0" cy="0"/>
        </a:xfrm>
      </p:grpSpPr>
      <p:sp>
        <p:nvSpPr>
          <p:cNvPr id="37" name="Google Shape;37;p27"/>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Play"/>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8" name="Google Shape;38;p27"/>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757575"/>
              </a:buClr>
              <a:buSzPts val="2400"/>
              <a:buNone/>
              <a:defRPr sz="2400">
                <a:solidFill>
                  <a:srgbClr val="757575"/>
                </a:solidFill>
              </a:defRPr>
            </a:lvl1pPr>
            <a:lvl2pPr indent="-228600" lvl="1" marL="914400" algn="l">
              <a:lnSpc>
                <a:spcPct val="90000"/>
              </a:lnSpc>
              <a:spcBef>
                <a:spcPts val="500"/>
              </a:spcBef>
              <a:spcAft>
                <a:spcPts val="0"/>
              </a:spcAft>
              <a:buClr>
                <a:srgbClr val="757575"/>
              </a:buClr>
              <a:buSzPts val="2000"/>
              <a:buNone/>
              <a:defRPr sz="2000">
                <a:solidFill>
                  <a:srgbClr val="757575"/>
                </a:solidFill>
              </a:defRPr>
            </a:lvl2pPr>
            <a:lvl3pPr indent="-228600" lvl="2" marL="1371600" algn="l">
              <a:lnSpc>
                <a:spcPct val="90000"/>
              </a:lnSpc>
              <a:spcBef>
                <a:spcPts val="500"/>
              </a:spcBef>
              <a:spcAft>
                <a:spcPts val="0"/>
              </a:spcAft>
              <a:buClr>
                <a:srgbClr val="757575"/>
              </a:buClr>
              <a:buSzPts val="1800"/>
              <a:buNone/>
              <a:defRPr sz="1800">
                <a:solidFill>
                  <a:srgbClr val="757575"/>
                </a:solidFill>
              </a:defRPr>
            </a:lvl3pPr>
            <a:lvl4pPr indent="-228600" lvl="3" marL="1828800" algn="l">
              <a:lnSpc>
                <a:spcPct val="90000"/>
              </a:lnSpc>
              <a:spcBef>
                <a:spcPts val="500"/>
              </a:spcBef>
              <a:spcAft>
                <a:spcPts val="0"/>
              </a:spcAft>
              <a:buClr>
                <a:srgbClr val="757575"/>
              </a:buClr>
              <a:buSzPts val="1600"/>
              <a:buNone/>
              <a:defRPr sz="1600">
                <a:solidFill>
                  <a:srgbClr val="757575"/>
                </a:solidFill>
              </a:defRPr>
            </a:lvl4pPr>
            <a:lvl5pPr indent="-228600" lvl="4" marL="2286000" algn="l">
              <a:lnSpc>
                <a:spcPct val="90000"/>
              </a:lnSpc>
              <a:spcBef>
                <a:spcPts val="500"/>
              </a:spcBef>
              <a:spcAft>
                <a:spcPts val="0"/>
              </a:spcAft>
              <a:buClr>
                <a:srgbClr val="757575"/>
              </a:buClr>
              <a:buSzPts val="1600"/>
              <a:buNone/>
              <a:defRPr sz="1600">
                <a:solidFill>
                  <a:srgbClr val="757575"/>
                </a:solidFill>
              </a:defRPr>
            </a:lvl5pPr>
            <a:lvl6pPr indent="-228600" lvl="5" marL="2743200" algn="l">
              <a:lnSpc>
                <a:spcPct val="90000"/>
              </a:lnSpc>
              <a:spcBef>
                <a:spcPts val="500"/>
              </a:spcBef>
              <a:spcAft>
                <a:spcPts val="0"/>
              </a:spcAft>
              <a:buClr>
                <a:srgbClr val="757575"/>
              </a:buClr>
              <a:buSzPts val="1600"/>
              <a:buNone/>
              <a:defRPr sz="1600">
                <a:solidFill>
                  <a:srgbClr val="757575"/>
                </a:solidFill>
              </a:defRPr>
            </a:lvl6pPr>
            <a:lvl7pPr indent="-228600" lvl="6" marL="3200400" algn="l">
              <a:lnSpc>
                <a:spcPct val="90000"/>
              </a:lnSpc>
              <a:spcBef>
                <a:spcPts val="500"/>
              </a:spcBef>
              <a:spcAft>
                <a:spcPts val="0"/>
              </a:spcAft>
              <a:buClr>
                <a:srgbClr val="757575"/>
              </a:buClr>
              <a:buSzPts val="1600"/>
              <a:buNone/>
              <a:defRPr sz="1600">
                <a:solidFill>
                  <a:srgbClr val="757575"/>
                </a:solidFill>
              </a:defRPr>
            </a:lvl7pPr>
            <a:lvl8pPr indent="-228600" lvl="7" marL="3657600" algn="l">
              <a:lnSpc>
                <a:spcPct val="90000"/>
              </a:lnSpc>
              <a:spcBef>
                <a:spcPts val="500"/>
              </a:spcBef>
              <a:spcAft>
                <a:spcPts val="0"/>
              </a:spcAft>
              <a:buClr>
                <a:srgbClr val="757575"/>
              </a:buClr>
              <a:buSzPts val="1600"/>
              <a:buNone/>
              <a:defRPr sz="1600">
                <a:solidFill>
                  <a:srgbClr val="757575"/>
                </a:solidFill>
              </a:defRPr>
            </a:lvl8pPr>
            <a:lvl9pPr indent="-228600" lvl="8" marL="4114800" algn="l">
              <a:lnSpc>
                <a:spcPct val="90000"/>
              </a:lnSpc>
              <a:spcBef>
                <a:spcPts val="500"/>
              </a:spcBef>
              <a:spcAft>
                <a:spcPts val="0"/>
              </a:spcAft>
              <a:buClr>
                <a:srgbClr val="757575"/>
              </a:buClr>
              <a:buSzPts val="1600"/>
              <a:buNone/>
              <a:defRPr sz="1600">
                <a:solidFill>
                  <a:srgbClr val="757575"/>
                </a:solidFill>
              </a:defRPr>
            </a:lvl9pPr>
          </a:lstStyle>
          <a:p/>
        </p:txBody>
      </p:sp>
      <p:sp>
        <p:nvSpPr>
          <p:cNvPr id="39" name="Google Shape;39;p2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0" name="Google Shape;40;p2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1" name="Google Shape;41;p2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42" name="Shape 42"/>
        <p:cNvGrpSpPr/>
        <p:nvPr/>
      </p:nvGrpSpPr>
      <p:grpSpPr>
        <a:xfrm>
          <a:off x="0" y="0"/>
          <a:ext cx="0" cy="0"/>
          <a:chOff x="0" y="0"/>
          <a:chExt cx="0" cy="0"/>
        </a:xfrm>
      </p:grpSpPr>
      <p:sp>
        <p:nvSpPr>
          <p:cNvPr id="43" name="Google Shape;43;p2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4" name="Google Shape;44;p28"/>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5" name="Google Shape;45;p28"/>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6" name="Google Shape;46;p2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2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2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9" name="Shape 49"/>
        <p:cNvGrpSpPr/>
        <p:nvPr/>
      </p:nvGrpSpPr>
      <p:grpSpPr>
        <a:xfrm>
          <a:off x="0" y="0"/>
          <a:ext cx="0" cy="0"/>
          <a:chOff x="0" y="0"/>
          <a:chExt cx="0" cy="0"/>
        </a:xfrm>
      </p:grpSpPr>
      <p:sp>
        <p:nvSpPr>
          <p:cNvPr id="50" name="Google Shape;50;p29"/>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29"/>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52" name="Google Shape;52;p29"/>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3" name="Google Shape;53;p29"/>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54" name="Google Shape;54;p29"/>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5" name="Google Shape;55;p2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2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7" name="Google Shape;57;p2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8" name="Shape 58"/>
        <p:cNvGrpSpPr/>
        <p:nvPr/>
      </p:nvGrpSpPr>
      <p:grpSpPr>
        <a:xfrm>
          <a:off x="0" y="0"/>
          <a:ext cx="0" cy="0"/>
          <a:chOff x="0" y="0"/>
          <a:chExt cx="0" cy="0"/>
        </a:xfrm>
      </p:grpSpPr>
      <p:sp>
        <p:nvSpPr>
          <p:cNvPr id="59" name="Google Shape;59;p30"/>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Play"/>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0" name="Google Shape;60;p30"/>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61" name="Google Shape;61;p30"/>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2" name="Google Shape;62;p3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3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3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5" name="Shape 65"/>
        <p:cNvGrpSpPr/>
        <p:nvPr/>
      </p:nvGrpSpPr>
      <p:grpSpPr>
        <a:xfrm>
          <a:off x="0" y="0"/>
          <a:ext cx="0" cy="0"/>
          <a:chOff x="0" y="0"/>
          <a:chExt cx="0" cy="0"/>
        </a:xfrm>
      </p:grpSpPr>
      <p:sp>
        <p:nvSpPr>
          <p:cNvPr id="66" name="Google Shape;66;p31"/>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Play"/>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7" name="Google Shape;67;p31"/>
          <p:cNvSpPr/>
          <p:nvPr>
            <p:ph idx="2" type="pic"/>
          </p:nvPr>
        </p:nvSpPr>
        <p:spPr>
          <a:xfrm>
            <a:off x="5183188" y="987425"/>
            <a:ext cx="6172200" cy="4873625"/>
          </a:xfrm>
          <a:prstGeom prst="rect">
            <a:avLst/>
          </a:prstGeom>
          <a:noFill/>
          <a:ln>
            <a:noFill/>
          </a:ln>
        </p:spPr>
      </p:sp>
      <p:sp>
        <p:nvSpPr>
          <p:cNvPr id="68" name="Google Shape;68;p31"/>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9" name="Google Shape;69;p3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3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3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72" name="Shape 72"/>
        <p:cNvGrpSpPr/>
        <p:nvPr/>
      </p:nvGrpSpPr>
      <p:grpSpPr>
        <a:xfrm>
          <a:off x="0" y="0"/>
          <a:ext cx="0" cy="0"/>
          <a:chOff x="0" y="0"/>
          <a:chExt cx="0" cy="0"/>
        </a:xfrm>
      </p:grpSpPr>
      <p:sp>
        <p:nvSpPr>
          <p:cNvPr id="73" name="Google Shape;73;p3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4" name="Google Shape;74;p32"/>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5" name="Google Shape;75;p3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6" name="Google Shape;76;p3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7" name="Google Shape;77;p3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8" name="Shape 78"/>
        <p:cNvGrpSpPr/>
        <p:nvPr/>
      </p:nvGrpSpPr>
      <p:grpSpPr>
        <a:xfrm>
          <a:off x="0" y="0"/>
          <a:ext cx="0" cy="0"/>
          <a:chOff x="0" y="0"/>
          <a:chExt cx="0" cy="0"/>
        </a:xfrm>
      </p:grpSpPr>
      <p:sp>
        <p:nvSpPr>
          <p:cNvPr id="79" name="Google Shape;79;p33"/>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0" name="Google Shape;80;p33"/>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81" name="Google Shape;81;p3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2" name="Google Shape;82;p3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3" name="Google Shape;83;p3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22"/>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Play"/>
              <a:buNone/>
              <a:defRPr b="0" i="0" sz="4400" u="none" cap="none" strike="noStrike">
                <a:solidFill>
                  <a:schemeClr val="dk1"/>
                </a:solidFill>
                <a:latin typeface="Play"/>
                <a:ea typeface="Play"/>
                <a:cs typeface="Play"/>
                <a:sym typeface="Play"/>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1" name="Google Shape;11;p22"/>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Arial"/>
                <a:ea typeface="Arial"/>
                <a:cs typeface="Arial"/>
                <a:sym typeface="Arial"/>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12" name="Google Shape;12;p2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757575"/>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3" name="Google Shape;13;p2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757575"/>
                </a:solidFill>
                <a:latin typeface="Arial"/>
                <a:ea typeface="Arial"/>
                <a:cs typeface="Arial"/>
                <a:sym typeface="Arial"/>
              </a:defRPr>
            </a:lvl1pPr>
            <a:lvl2pPr lvl="1" marR="0" rtl="0" algn="l">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4" name="Google Shape;14;p2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757575"/>
                </a:solidFill>
                <a:latin typeface="Arial"/>
                <a:ea typeface="Arial"/>
                <a:cs typeface="Arial"/>
                <a:sym typeface="Arial"/>
              </a:defRPr>
            </a:lvl1pPr>
            <a:lvl2pPr indent="0" lvl="1" marL="0" marR="0" rtl="0" algn="r">
              <a:spcBef>
                <a:spcPts val="0"/>
              </a:spcBef>
              <a:buNone/>
              <a:defRPr b="0" i="0" sz="1200" u="none" cap="none" strike="noStrike">
                <a:solidFill>
                  <a:srgbClr val="757575"/>
                </a:solidFill>
                <a:latin typeface="Arial"/>
                <a:ea typeface="Arial"/>
                <a:cs typeface="Arial"/>
                <a:sym typeface="Arial"/>
              </a:defRPr>
            </a:lvl2pPr>
            <a:lvl3pPr indent="0" lvl="2" marL="0" marR="0" rtl="0" algn="r">
              <a:spcBef>
                <a:spcPts val="0"/>
              </a:spcBef>
              <a:buNone/>
              <a:defRPr b="0" i="0" sz="1200" u="none" cap="none" strike="noStrike">
                <a:solidFill>
                  <a:srgbClr val="757575"/>
                </a:solidFill>
                <a:latin typeface="Arial"/>
                <a:ea typeface="Arial"/>
                <a:cs typeface="Arial"/>
                <a:sym typeface="Arial"/>
              </a:defRPr>
            </a:lvl3pPr>
            <a:lvl4pPr indent="0" lvl="3" marL="0" marR="0" rtl="0" algn="r">
              <a:spcBef>
                <a:spcPts val="0"/>
              </a:spcBef>
              <a:buNone/>
              <a:defRPr b="0" i="0" sz="1200" u="none" cap="none" strike="noStrike">
                <a:solidFill>
                  <a:srgbClr val="757575"/>
                </a:solidFill>
                <a:latin typeface="Arial"/>
                <a:ea typeface="Arial"/>
                <a:cs typeface="Arial"/>
                <a:sym typeface="Arial"/>
              </a:defRPr>
            </a:lvl4pPr>
            <a:lvl5pPr indent="0" lvl="4" marL="0" marR="0" rtl="0" algn="r">
              <a:spcBef>
                <a:spcPts val="0"/>
              </a:spcBef>
              <a:buNone/>
              <a:defRPr b="0" i="0" sz="1200" u="none" cap="none" strike="noStrike">
                <a:solidFill>
                  <a:srgbClr val="757575"/>
                </a:solidFill>
                <a:latin typeface="Arial"/>
                <a:ea typeface="Arial"/>
                <a:cs typeface="Arial"/>
                <a:sym typeface="Arial"/>
              </a:defRPr>
            </a:lvl5pPr>
            <a:lvl6pPr indent="0" lvl="5" marL="0" marR="0" rtl="0" algn="r">
              <a:spcBef>
                <a:spcPts val="0"/>
              </a:spcBef>
              <a:buNone/>
              <a:defRPr b="0" i="0" sz="1200" u="none" cap="none" strike="noStrike">
                <a:solidFill>
                  <a:srgbClr val="757575"/>
                </a:solidFill>
                <a:latin typeface="Arial"/>
                <a:ea typeface="Arial"/>
                <a:cs typeface="Arial"/>
                <a:sym typeface="Arial"/>
              </a:defRPr>
            </a:lvl6pPr>
            <a:lvl7pPr indent="0" lvl="6" marL="0" marR="0" rtl="0" algn="r">
              <a:spcBef>
                <a:spcPts val="0"/>
              </a:spcBef>
              <a:buNone/>
              <a:defRPr b="0" i="0" sz="1200" u="none" cap="none" strike="noStrike">
                <a:solidFill>
                  <a:srgbClr val="757575"/>
                </a:solidFill>
                <a:latin typeface="Arial"/>
                <a:ea typeface="Arial"/>
                <a:cs typeface="Arial"/>
                <a:sym typeface="Arial"/>
              </a:defRPr>
            </a:lvl7pPr>
            <a:lvl8pPr indent="0" lvl="7" marL="0" marR="0" rtl="0" algn="r">
              <a:spcBef>
                <a:spcPts val="0"/>
              </a:spcBef>
              <a:buNone/>
              <a:defRPr b="0" i="0" sz="1200" u="none" cap="none" strike="noStrike">
                <a:solidFill>
                  <a:srgbClr val="757575"/>
                </a:solidFill>
                <a:latin typeface="Arial"/>
                <a:ea typeface="Arial"/>
                <a:cs typeface="Arial"/>
                <a:sym typeface="Arial"/>
              </a:defRPr>
            </a:lvl8pPr>
            <a:lvl9pPr indent="0" lvl="8" marL="0" marR="0" rtl="0" algn="r">
              <a:spcBef>
                <a:spcPts val="0"/>
              </a:spcBef>
              <a:buNone/>
              <a:defRPr b="0" i="0" sz="1200" u="none" cap="none" strike="noStrike">
                <a:solidFill>
                  <a:srgbClr val="757575"/>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4.jpg"/><Relationship Id="rId4" Type="http://schemas.openxmlformats.org/officeDocument/2006/relationships/image" Target="../media/image2.jpg"/><Relationship Id="rId5" Type="http://schemas.openxmlformats.org/officeDocument/2006/relationships/image" Target="../media/image1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4.jpg"/><Relationship Id="rId4" Type="http://schemas.openxmlformats.org/officeDocument/2006/relationships/image" Target="../media/image2.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4.jpg"/><Relationship Id="rId4" Type="http://schemas.openxmlformats.org/officeDocument/2006/relationships/image" Target="../media/image2.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4.jpg"/><Relationship Id="rId4" Type="http://schemas.openxmlformats.org/officeDocument/2006/relationships/image" Target="../media/image2.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4.jpg"/><Relationship Id="rId4" Type="http://schemas.openxmlformats.org/officeDocument/2006/relationships/image" Target="../media/image2.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6.png"/><Relationship Id="rId4" Type="http://schemas.openxmlformats.org/officeDocument/2006/relationships/image" Target="../media/image5.png"/><Relationship Id="rId5" Type="http://schemas.openxmlformats.org/officeDocument/2006/relationships/image" Target="../media/image1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5.png"/><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image" Target="../media/image1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1.xml"/><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image" Target="../media/image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image" Target="../media/image2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image" Target="../media/image1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image" Target="../media/image1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5.xml"/><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image" Target="../media/image1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image" Target="../media/image24.png"/><Relationship Id="rId6" Type="http://schemas.openxmlformats.org/officeDocument/2006/relationships/image" Target="../media/image2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 Id="rId3" Type="http://schemas.openxmlformats.org/officeDocument/2006/relationships/image" Target="../media/image20.png"/><Relationship Id="rId4" Type="http://schemas.openxmlformats.org/officeDocument/2006/relationships/image" Target="../media/image18.png"/><Relationship Id="rId5" Type="http://schemas.openxmlformats.org/officeDocument/2006/relationships/image" Target="../media/image2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8.xml"/><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image" Target="../media/image19.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9.xml"/><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image" Target="../media/image16.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 Id="rId3" Type="http://schemas.openxmlformats.org/officeDocument/2006/relationships/image" Target="../media/image7.png"/><Relationship Id="rId4" Type="http://schemas.openxmlformats.org/officeDocument/2006/relationships/image" Target="../media/image8.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 Id="rId3" Type="http://schemas.openxmlformats.org/officeDocument/2006/relationships/image" Target="../media/image17.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 name="Shape 87"/>
        <p:cNvGrpSpPr/>
        <p:nvPr/>
      </p:nvGrpSpPr>
      <p:grpSpPr>
        <a:xfrm>
          <a:off x="0" y="0"/>
          <a:ext cx="0" cy="0"/>
          <a:chOff x="0" y="0"/>
          <a:chExt cx="0" cy="0"/>
        </a:xfrm>
      </p:grpSpPr>
      <p:sp>
        <p:nvSpPr>
          <p:cNvPr id="88" name="Google Shape;88;p1"/>
          <p:cNvSpPr txBox="1"/>
          <p:nvPr>
            <p:ph type="title"/>
          </p:nvPr>
        </p:nvSpPr>
        <p:spPr>
          <a:xfrm>
            <a:off x="666018" y="1259941"/>
            <a:ext cx="10874925" cy="3117773"/>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FF0000"/>
              </a:buClr>
              <a:buSzPts val="3600"/>
              <a:buFont typeface="Times New Roman"/>
              <a:buNone/>
            </a:pPr>
            <a:r>
              <a:rPr lang="en-US" sz="3600">
                <a:solidFill>
                  <a:srgbClr val="FF0000"/>
                </a:solidFill>
                <a:latin typeface="Times New Roman"/>
                <a:ea typeface="Times New Roman"/>
                <a:cs typeface="Times New Roman"/>
                <a:sym typeface="Times New Roman"/>
              </a:rPr>
              <a:t>Deep Learning-Based Smart Real-Time Emergency Resource Allocation and Inventory Monitoring System</a:t>
            </a:r>
            <a:br>
              <a:rPr lang="en-US" sz="3600">
                <a:solidFill>
                  <a:srgbClr val="C00000"/>
                </a:solidFill>
                <a:latin typeface="Times New Roman"/>
                <a:ea typeface="Times New Roman"/>
                <a:cs typeface="Times New Roman"/>
                <a:sym typeface="Times New Roman"/>
              </a:rPr>
            </a:br>
            <a:br>
              <a:rPr lang="en-US" sz="3200">
                <a:latin typeface="Times New Roman"/>
                <a:ea typeface="Times New Roman"/>
                <a:cs typeface="Times New Roman"/>
                <a:sym typeface="Times New Roman"/>
              </a:rPr>
            </a:br>
            <a:r>
              <a:rPr lang="en-US" sz="2800">
                <a:latin typeface="Times New Roman"/>
                <a:ea typeface="Times New Roman"/>
                <a:cs typeface="Times New Roman"/>
                <a:sym typeface="Times New Roman"/>
              </a:rPr>
              <a:t>MLA0408</a:t>
            </a:r>
            <a:r>
              <a:rPr lang="en-US" sz="3200">
                <a:latin typeface="Times New Roman"/>
                <a:ea typeface="Times New Roman"/>
                <a:cs typeface="Times New Roman"/>
                <a:sym typeface="Times New Roman"/>
              </a:rPr>
              <a:t>-</a:t>
            </a:r>
            <a:r>
              <a:rPr lang="en-US" sz="2800">
                <a:latin typeface="Times New Roman"/>
                <a:ea typeface="Times New Roman"/>
                <a:cs typeface="Times New Roman"/>
                <a:sym typeface="Times New Roman"/>
              </a:rPr>
              <a:t>Deep Learning</a:t>
            </a:r>
            <a:br>
              <a:rPr lang="en-US" sz="3600">
                <a:latin typeface="Times New Roman"/>
                <a:ea typeface="Times New Roman"/>
                <a:cs typeface="Times New Roman"/>
                <a:sym typeface="Times New Roman"/>
              </a:rPr>
            </a:br>
            <a:br>
              <a:rPr lang="en-US" sz="3200">
                <a:latin typeface="Times New Roman"/>
                <a:ea typeface="Times New Roman"/>
                <a:cs typeface="Times New Roman"/>
                <a:sym typeface="Times New Roman"/>
              </a:rPr>
            </a:br>
            <a:endParaRPr sz="3200">
              <a:solidFill>
                <a:srgbClr val="C00000"/>
              </a:solidFill>
            </a:endParaRPr>
          </a:p>
        </p:txBody>
      </p:sp>
      <p:pic>
        <p:nvPicPr>
          <p:cNvPr descr="SIMATS ENGINEERING —BIOTECHNOLOGY" id="89" name="Google Shape;89;p1"/>
          <p:cNvPicPr preferRelativeResize="0"/>
          <p:nvPr/>
        </p:nvPicPr>
        <p:blipFill rotWithShape="1">
          <a:blip r:embed="rId3">
            <a:alphaModFix/>
          </a:blip>
          <a:srcRect b="0" l="0" r="0" t="0"/>
          <a:stretch/>
        </p:blipFill>
        <p:spPr>
          <a:xfrm>
            <a:off x="198303" y="60690"/>
            <a:ext cx="11810357" cy="1162181"/>
          </a:xfrm>
          <a:prstGeom prst="rect">
            <a:avLst/>
          </a:prstGeom>
          <a:noFill/>
          <a:ln>
            <a:noFill/>
          </a:ln>
        </p:spPr>
      </p:pic>
      <p:sp>
        <p:nvSpPr>
          <p:cNvPr id="90" name="Google Shape;90;p1"/>
          <p:cNvSpPr txBox="1"/>
          <p:nvPr/>
        </p:nvSpPr>
        <p:spPr>
          <a:xfrm>
            <a:off x="325173" y="3677537"/>
            <a:ext cx="5383500" cy="15699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i="0" lang="en-US" sz="2400" u="none" cap="none" strike="noStrike">
                <a:solidFill>
                  <a:schemeClr val="dk1"/>
                </a:solidFill>
                <a:latin typeface="Times New Roman"/>
                <a:ea typeface="Times New Roman"/>
                <a:cs typeface="Times New Roman"/>
                <a:sym typeface="Times New Roman"/>
              </a:rPr>
              <a:t>GUIDED BY:</a:t>
            </a:r>
            <a:endParaRPr/>
          </a:p>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Dr D Sudhagar,</a:t>
            </a:r>
            <a:br>
              <a:rPr lang="en-US" sz="2400">
                <a:solidFill>
                  <a:schemeClr val="dk1"/>
                </a:solidFill>
                <a:latin typeface="Times New Roman"/>
                <a:ea typeface="Times New Roman"/>
                <a:cs typeface="Times New Roman"/>
                <a:sym typeface="Times New Roman"/>
              </a:rPr>
            </a:br>
            <a:r>
              <a:rPr lang="en-US" sz="2400">
                <a:solidFill>
                  <a:schemeClr val="dk1"/>
                </a:solidFill>
                <a:latin typeface="Times New Roman"/>
                <a:ea typeface="Times New Roman"/>
                <a:cs typeface="Times New Roman"/>
                <a:sym typeface="Times New Roman"/>
              </a:rPr>
              <a:t>SIMATS ENGINEERING</a:t>
            </a:r>
            <a:endParaRPr/>
          </a:p>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CHENNAI</a:t>
            </a:r>
            <a:endParaRPr/>
          </a:p>
        </p:txBody>
      </p:sp>
      <p:sp>
        <p:nvSpPr>
          <p:cNvPr id="91" name="Google Shape;91;p1"/>
          <p:cNvSpPr txBox="1"/>
          <p:nvPr/>
        </p:nvSpPr>
        <p:spPr>
          <a:xfrm>
            <a:off x="6133562" y="1610803"/>
            <a:ext cx="1219200" cy="461665"/>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t/>
            </a:r>
            <a:endParaRPr sz="2400">
              <a:solidFill>
                <a:schemeClr val="dk1"/>
              </a:solidFill>
              <a:latin typeface="Arial"/>
              <a:ea typeface="Arial"/>
              <a:cs typeface="Arial"/>
              <a:sym typeface="Arial"/>
            </a:endParaRPr>
          </a:p>
        </p:txBody>
      </p:sp>
      <p:sp>
        <p:nvSpPr>
          <p:cNvPr id="92" name="Google Shape;92;p1"/>
          <p:cNvSpPr txBox="1"/>
          <p:nvPr/>
        </p:nvSpPr>
        <p:spPr>
          <a:xfrm>
            <a:off x="6852492" y="3677537"/>
            <a:ext cx="5156100" cy="26781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1" lang="en-US" sz="2400">
                <a:solidFill>
                  <a:schemeClr val="dk1"/>
                </a:solidFill>
                <a:latin typeface="Times New Roman"/>
                <a:ea typeface="Times New Roman"/>
                <a:cs typeface="Times New Roman"/>
                <a:sym typeface="Times New Roman"/>
              </a:rPr>
              <a:t>PRESENTED BY:</a:t>
            </a:r>
            <a:endParaRPr/>
          </a:p>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G Vishnu Madhav (192425192)</a:t>
            </a:r>
            <a:endParaRPr sz="2400">
              <a:solidFill>
                <a:schemeClr val="dk1"/>
              </a:solidFill>
              <a:latin typeface="Times New Roman"/>
              <a:ea typeface="Times New Roman"/>
              <a:cs typeface="Times New Roman"/>
              <a:sym typeface="Times New Roman"/>
            </a:endParaRPr>
          </a:p>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S Mahammed Nayeem (192425294)</a:t>
            </a:r>
            <a:endParaRPr sz="2400">
              <a:solidFill>
                <a:schemeClr val="dk1"/>
              </a:solidFill>
              <a:latin typeface="Times New Roman"/>
              <a:ea typeface="Times New Roman"/>
              <a:cs typeface="Times New Roman"/>
              <a:sym typeface="Times New Roman"/>
            </a:endParaRPr>
          </a:p>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M MD Rehan (192425391)</a:t>
            </a:r>
            <a:endParaRPr sz="2400">
              <a:solidFill>
                <a:schemeClr val="dk1"/>
              </a:solidFill>
              <a:latin typeface="Times New Roman"/>
              <a:ea typeface="Times New Roman"/>
              <a:cs typeface="Times New Roman"/>
              <a:sym typeface="Times New Roman"/>
            </a:endParaRPr>
          </a:p>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Department of AIML</a:t>
            </a:r>
            <a:endParaRPr/>
          </a:p>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SIMATS ENGINEERING</a:t>
            </a:r>
            <a:endParaRPr/>
          </a:p>
          <a:p>
            <a:pPr indent="0" lvl="0" marL="0" marR="0" rtl="0" algn="l">
              <a:spcBef>
                <a:spcPts val="0"/>
              </a:spcBef>
              <a:spcAft>
                <a:spcPts val="0"/>
              </a:spcAft>
              <a:buNone/>
            </a:pPr>
            <a:r>
              <a:rPr lang="en-US" sz="2400">
                <a:solidFill>
                  <a:schemeClr val="dk1"/>
                </a:solidFill>
                <a:latin typeface="Times New Roman"/>
                <a:ea typeface="Times New Roman"/>
                <a:cs typeface="Times New Roman"/>
                <a:sym typeface="Times New Roman"/>
              </a:rPr>
              <a:t>CHENNAI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2"/>
          <p:cNvSpPr txBox="1"/>
          <p:nvPr>
            <p:ph type="title"/>
          </p:nvPr>
        </p:nvSpPr>
        <p:spPr>
          <a:xfrm>
            <a:off x="3073706" y="215227"/>
            <a:ext cx="5412120" cy="8382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FF0000"/>
              </a:buClr>
              <a:buSzPts val="4400"/>
              <a:buFont typeface="Times New Roman"/>
              <a:buNone/>
            </a:pPr>
            <a:r>
              <a:rPr lang="en-US">
                <a:solidFill>
                  <a:srgbClr val="FF0000"/>
                </a:solidFill>
                <a:latin typeface="Times New Roman"/>
                <a:ea typeface="Times New Roman"/>
                <a:cs typeface="Times New Roman"/>
                <a:sym typeface="Times New Roman"/>
              </a:rPr>
              <a:t>Agenda</a:t>
            </a:r>
            <a:endParaRPr>
              <a:solidFill>
                <a:srgbClr val="FF0000"/>
              </a:solidFill>
              <a:latin typeface="Times New Roman"/>
              <a:ea typeface="Times New Roman"/>
              <a:cs typeface="Times New Roman"/>
              <a:sym typeface="Times New Roman"/>
            </a:endParaRPr>
          </a:p>
        </p:txBody>
      </p:sp>
      <p:sp>
        <p:nvSpPr>
          <p:cNvPr id="98" name="Google Shape;98;p2"/>
          <p:cNvSpPr txBox="1"/>
          <p:nvPr>
            <p:ph idx="1" type="body"/>
          </p:nvPr>
        </p:nvSpPr>
        <p:spPr>
          <a:xfrm>
            <a:off x="834634" y="1518663"/>
            <a:ext cx="3944196" cy="5189447"/>
          </a:xfrm>
          <a:prstGeom prst="rect">
            <a:avLst/>
          </a:prstGeom>
          <a:noFill/>
          <a:ln>
            <a:noFill/>
          </a:ln>
        </p:spPr>
        <p:txBody>
          <a:bodyPr anchorCtr="0" anchor="t" bIns="45700" lIns="91425" spcFirstLastPara="1" rIns="91425" wrap="square" tIns="45700">
            <a:noAutofit/>
          </a:bodyPr>
          <a:lstStyle/>
          <a:p>
            <a:pPr indent="-228600" lvl="0" marL="228600" rtl="0" algn="l">
              <a:lnSpc>
                <a:spcPct val="90000"/>
              </a:lnSpc>
              <a:spcBef>
                <a:spcPts val="0"/>
              </a:spcBef>
              <a:spcAft>
                <a:spcPts val="0"/>
              </a:spcAft>
              <a:buClr>
                <a:schemeClr val="dk1"/>
              </a:buClr>
              <a:buSzPts val="2400"/>
              <a:buChar char="•"/>
            </a:pPr>
            <a:r>
              <a:rPr lang="en-US" sz="2400">
                <a:latin typeface="Times New Roman"/>
                <a:ea typeface="Times New Roman"/>
                <a:cs typeface="Times New Roman"/>
                <a:sym typeface="Times New Roman"/>
              </a:rPr>
              <a:t>Introduction</a:t>
            </a:r>
            <a:endParaRPr/>
          </a:p>
          <a:p>
            <a:pPr indent="-228600" lvl="0" marL="228600" rtl="0" algn="l">
              <a:lnSpc>
                <a:spcPct val="90000"/>
              </a:lnSpc>
              <a:spcBef>
                <a:spcPts val="1000"/>
              </a:spcBef>
              <a:spcAft>
                <a:spcPts val="0"/>
              </a:spcAft>
              <a:buClr>
                <a:schemeClr val="dk1"/>
              </a:buClr>
              <a:buSzPts val="2400"/>
              <a:buChar char="•"/>
            </a:pPr>
            <a:r>
              <a:rPr lang="en-US" sz="2400">
                <a:latin typeface="Times New Roman"/>
                <a:ea typeface="Times New Roman"/>
                <a:cs typeface="Times New Roman"/>
                <a:sym typeface="Times New Roman"/>
              </a:rPr>
              <a:t>Objectives</a:t>
            </a:r>
            <a:endParaRPr/>
          </a:p>
          <a:p>
            <a:pPr indent="-228600" lvl="0" marL="228600" rtl="0" algn="l">
              <a:lnSpc>
                <a:spcPct val="90000"/>
              </a:lnSpc>
              <a:spcBef>
                <a:spcPts val="1000"/>
              </a:spcBef>
              <a:spcAft>
                <a:spcPts val="0"/>
              </a:spcAft>
              <a:buClr>
                <a:schemeClr val="dk1"/>
              </a:buClr>
              <a:buSzPts val="2400"/>
              <a:buChar char="•"/>
            </a:pPr>
            <a:r>
              <a:rPr lang="en-US" sz="2400">
                <a:latin typeface="Times New Roman"/>
                <a:ea typeface="Times New Roman"/>
                <a:cs typeface="Times New Roman"/>
                <a:sym typeface="Times New Roman"/>
              </a:rPr>
              <a:t>Literature Review</a:t>
            </a:r>
            <a:endParaRPr/>
          </a:p>
          <a:p>
            <a:pPr indent="-228600" lvl="0" marL="228600" rtl="0" algn="l">
              <a:lnSpc>
                <a:spcPct val="90000"/>
              </a:lnSpc>
              <a:spcBef>
                <a:spcPts val="1000"/>
              </a:spcBef>
              <a:spcAft>
                <a:spcPts val="0"/>
              </a:spcAft>
              <a:buClr>
                <a:schemeClr val="dk1"/>
              </a:buClr>
              <a:buSzPts val="2400"/>
              <a:buChar char="•"/>
            </a:pPr>
            <a:r>
              <a:rPr lang="en-US" sz="2400">
                <a:latin typeface="Times New Roman"/>
                <a:ea typeface="Times New Roman"/>
                <a:cs typeface="Times New Roman"/>
                <a:sym typeface="Times New Roman"/>
              </a:rPr>
              <a:t>Problem statement</a:t>
            </a:r>
            <a:endParaRPr sz="2400">
              <a:latin typeface="Times New Roman"/>
              <a:ea typeface="Times New Roman"/>
              <a:cs typeface="Times New Roman"/>
              <a:sym typeface="Times New Roman"/>
            </a:endParaRPr>
          </a:p>
          <a:p>
            <a:pPr indent="-228600" lvl="0" marL="228600" rtl="0" algn="l">
              <a:lnSpc>
                <a:spcPct val="90000"/>
              </a:lnSpc>
              <a:spcBef>
                <a:spcPts val="1000"/>
              </a:spcBef>
              <a:spcAft>
                <a:spcPts val="0"/>
              </a:spcAft>
              <a:buClr>
                <a:schemeClr val="dk1"/>
              </a:buClr>
              <a:buSzPts val="2400"/>
              <a:buChar char="•"/>
            </a:pPr>
            <a:r>
              <a:rPr lang="en-US" sz="2400">
                <a:latin typeface="Times New Roman"/>
                <a:ea typeface="Times New Roman"/>
                <a:cs typeface="Times New Roman"/>
                <a:sym typeface="Times New Roman"/>
              </a:rPr>
              <a:t>Architecture diagram</a:t>
            </a:r>
            <a:endParaRPr/>
          </a:p>
          <a:p>
            <a:pPr indent="-228600" lvl="0" marL="228600" rtl="0" algn="l">
              <a:lnSpc>
                <a:spcPct val="90000"/>
              </a:lnSpc>
              <a:spcBef>
                <a:spcPts val="1000"/>
              </a:spcBef>
              <a:spcAft>
                <a:spcPts val="0"/>
              </a:spcAft>
              <a:buClr>
                <a:schemeClr val="dk1"/>
              </a:buClr>
              <a:buSzPts val="2400"/>
              <a:buChar char="•"/>
            </a:pPr>
            <a:r>
              <a:rPr lang="en-US" sz="2400">
                <a:latin typeface="Times New Roman"/>
                <a:ea typeface="Times New Roman"/>
                <a:cs typeface="Times New Roman"/>
                <a:sym typeface="Times New Roman"/>
              </a:rPr>
              <a:t>Modules</a:t>
            </a:r>
            <a:endParaRPr/>
          </a:p>
          <a:p>
            <a:pPr indent="-228600" lvl="0" marL="228600" rtl="0" algn="l">
              <a:lnSpc>
                <a:spcPct val="90000"/>
              </a:lnSpc>
              <a:spcBef>
                <a:spcPts val="1000"/>
              </a:spcBef>
              <a:spcAft>
                <a:spcPts val="0"/>
              </a:spcAft>
              <a:buClr>
                <a:schemeClr val="dk1"/>
              </a:buClr>
              <a:buSzPts val="2400"/>
              <a:buChar char="•"/>
            </a:pPr>
            <a:r>
              <a:rPr lang="en-US" sz="2400">
                <a:latin typeface="Times New Roman"/>
                <a:ea typeface="Times New Roman"/>
                <a:cs typeface="Times New Roman"/>
                <a:sym typeface="Times New Roman"/>
              </a:rPr>
              <a:t>Algorithm used</a:t>
            </a:r>
            <a:endParaRPr/>
          </a:p>
          <a:p>
            <a:pPr indent="-228600" lvl="0" marL="228600" rtl="0" algn="l">
              <a:lnSpc>
                <a:spcPct val="90000"/>
              </a:lnSpc>
              <a:spcBef>
                <a:spcPts val="1000"/>
              </a:spcBef>
              <a:spcAft>
                <a:spcPts val="0"/>
              </a:spcAft>
              <a:buClr>
                <a:schemeClr val="dk1"/>
              </a:buClr>
              <a:buSzPts val="2400"/>
              <a:buChar char="•"/>
            </a:pPr>
            <a:r>
              <a:rPr lang="en-US" sz="2400">
                <a:latin typeface="Times New Roman"/>
                <a:ea typeface="Times New Roman"/>
                <a:cs typeface="Times New Roman"/>
                <a:sym typeface="Times New Roman"/>
              </a:rPr>
              <a:t>Implementation</a:t>
            </a:r>
            <a:endParaRPr/>
          </a:p>
          <a:p>
            <a:pPr indent="-228600" lvl="0" marL="228600" rtl="0" algn="l">
              <a:lnSpc>
                <a:spcPct val="90000"/>
              </a:lnSpc>
              <a:spcBef>
                <a:spcPts val="1000"/>
              </a:spcBef>
              <a:spcAft>
                <a:spcPts val="0"/>
              </a:spcAft>
              <a:buClr>
                <a:schemeClr val="dk1"/>
              </a:buClr>
              <a:buSzPts val="2400"/>
              <a:buChar char="•"/>
            </a:pPr>
            <a:r>
              <a:rPr lang="en-US" sz="2400">
                <a:latin typeface="Times New Roman"/>
                <a:ea typeface="Times New Roman"/>
                <a:cs typeface="Times New Roman"/>
                <a:sym typeface="Times New Roman"/>
              </a:rPr>
              <a:t>Conclusion</a:t>
            </a:r>
            <a:endParaRPr/>
          </a:p>
          <a:p>
            <a:pPr indent="-228600" lvl="0" marL="228600" rtl="0" algn="l">
              <a:lnSpc>
                <a:spcPct val="90000"/>
              </a:lnSpc>
              <a:spcBef>
                <a:spcPts val="1000"/>
              </a:spcBef>
              <a:spcAft>
                <a:spcPts val="0"/>
              </a:spcAft>
              <a:buClr>
                <a:schemeClr val="dk1"/>
              </a:buClr>
              <a:buSzPts val="2400"/>
              <a:buChar char="•"/>
            </a:pPr>
            <a:r>
              <a:rPr lang="en-US" sz="2400">
                <a:latin typeface="Times New Roman"/>
                <a:ea typeface="Times New Roman"/>
                <a:cs typeface="Times New Roman"/>
                <a:sym typeface="Times New Roman"/>
              </a:rPr>
              <a:t>Future scope</a:t>
            </a:r>
            <a:endParaRPr/>
          </a:p>
          <a:p>
            <a:pPr indent="-228600" lvl="0" marL="228600" rtl="0" algn="l">
              <a:lnSpc>
                <a:spcPct val="90000"/>
              </a:lnSpc>
              <a:spcBef>
                <a:spcPts val="1000"/>
              </a:spcBef>
              <a:spcAft>
                <a:spcPts val="0"/>
              </a:spcAft>
              <a:buClr>
                <a:schemeClr val="dk1"/>
              </a:buClr>
              <a:buSzPts val="2400"/>
              <a:buChar char="•"/>
            </a:pPr>
            <a:r>
              <a:rPr lang="en-US" sz="2400">
                <a:latin typeface="Times New Roman"/>
                <a:ea typeface="Times New Roman"/>
                <a:cs typeface="Times New Roman"/>
                <a:sym typeface="Times New Roman"/>
              </a:rPr>
              <a:t>References</a:t>
            </a:r>
            <a:endParaRPr/>
          </a:p>
          <a:p>
            <a:pPr indent="-76200" lvl="0" marL="228600" rtl="0" algn="l">
              <a:lnSpc>
                <a:spcPct val="90000"/>
              </a:lnSpc>
              <a:spcBef>
                <a:spcPts val="1000"/>
              </a:spcBef>
              <a:spcAft>
                <a:spcPts val="0"/>
              </a:spcAft>
              <a:buClr>
                <a:schemeClr val="dk1"/>
              </a:buClr>
              <a:buSzPts val="2400"/>
              <a:buNone/>
            </a:pPr>
            <a:r>
              <a:t/>
            </a:r>
            <a:endParaRPr sz="2400">
              <a:latin typeface="Times New Roman"/>
              <a:ea typeface="Times New Roman"/>
              <a:cs typeface="Times New Roman"/>
              <a:sym typeface="Times New Roman"/>
            </a:endParaRPr>
          </a:p>
          <a:p>
            <a:pPr indent="-76200" lvl="0" marL="228600" rtl="0" algn="l">
              <a:lnSpc>
                <a:spcPct val="90000"/>
              </a:lnSpc>
              <a:spcBef>
                <a:spcPts val="1000"/>
              </a:spcBef>
              <a:spcAft>
                <a:spcPts val="0"/>
              </a:spcAft>
              <a:buClr>
                <a:schemeClr val="dk1"/>
              </a:buClr>
              <a:buSzPts val="2400"/>
              <a:buNone/>
            </a:pPr>
            <a:r>
              <a:t/>
            </a:r>
            <a:endParaRPr sz="2400">
              <a:latin typeface="Times New Roman"/>
              <a:ea typeface="Times New Roman"/>
              <a:cs typeface="Times New Roman"/>
              <a:sym typeface="Times New Roman"/>
            </a:endParaRPr>
          </a:p>
        </p:txBody>
      </p:sp>
      <p:pic>
        <p:nvPicPr>
          <p:cNvPr id="99" name="Google Shape;99;p2"/>
          <p:cNvPicPr preferRelativeResize="0"/>
          <p:nvPr/>
        </p:nvPicPr>
        <p:blipFill rotWithShape="1">
          <a:blip r:embed="rId3">
            <a:alphaModFix/>
          </a:blip>
          <a:srcRect b="0" l="0" r="0" t="0"/>
          <a:stretch/>
        </p:blipFill>
        <p:spPr>
          <a:xfrm>
            <a:off x="281152" y="0"/>
            <a:ext cx="1103582" cy="1342897"/>
          </a:xfrm>
          <a:prstGeom prst="rect">
            <a:avLst/>
          </a:prstGeom>
          <a:noFill/>
          <a:ln>
            <a:noFill/>
          </a:ln>
        </p:spPr>
      </p:pic>
      <p:pic>
        <p:nvPicPr>
          <p:cNvPr id="100" name="Google Shape;100;p2"/>
          <p:cNvPicPr preferRelativeResize="0"/>
          <p:nvPr/>
        </p:nvPicPr>
        <p:blipFill rotWithShape="1">
          <a:blip r:embed="rId4">
            <a:alphaModFix/>
          </a:blip>
          <a:srcRect b="0" l="0" r="0" t="0"/>
          <a:stretch/>
        </p:blipFill>
        <p:spPr>
          <a:xfrm>
            <a:off x="10525089" y="0"/>
            <a:ext cx="1520062" cy="1342897"/>
          </a:xfrm>
          <a:prstGeom prst="rect">
            <a:avLst/>
          </a:prstGeom>
          <a:noFill/>
          <a:ln>
            <a:noFill/>
          </a:ln>
        </p:spPr>
      </p:pic>
      <p:pic>
        <p:nvPicPr>
          <p:cNvPr id="101" name="Google Shape;101;p2"/>
          <p:cNvPicPr preferRelativeResize="0"/>
          <p:nvPr/>
        </p:nvPicPr>
        <p:blipFill rotWithShape="1">
          <a:blip r:embed="rId5">
            <a:alphaModFix/>
          </a:blip>
          <a:srcRect b="5704" l="11203" r="4620" t="1787"/>
          <a:stretch/>
        </p:blipFill>
        <p:spPr>
          <a:xfrm>
            <a:off x="6546267" y="1496712"/>
            <a:ext cx="4738853" cy="3928818"/>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3"/>
          <p:cNvSpPr txBox="1"/>
          <p:nvPr>
            <p:ph type="title"/>
          </p:nvPr>
        </p:nvSpPr>
        <p:spPr>
          <a:xfrm>
            <a:off x="3073706" y="443991"/>
            <a:ext cx="5412120" cy="8382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FF0000"/>
              </a:buClr>
              <a:buSzPts val="4400"/>
              <a:buFont typeface="Times New Roman"/>
              <a:buNone/>
            </a:pPr>
            <a:r>
              <a:rPr lang="en-US">
                <a:solidFill>
                  <a:srgbClr val="FF0000"/>
                </a:solidFill>
                <a:latin typeface="Times New Roman"/>
                <a:ea typeface="Times New Roman"/>
                <a:cs typeface="Times New Roman"/>
                <a:sym typeface="Times New Roman"/>
              </a:rPr>
              <a:t>Abstract</a:t>
            </a:r>
            <a:endParaRPr>
              <a:solidFill>
                <a:srgbClr val="FF0000"/>
              </a:solidFill>
              <a:latin typeface="Times New Roman"/>
              <a:ea typeface="Times New Roman"/>
              <a:cs typeface="Times New Roman"/>
              <a:sym typeface="Times New Roman"/>
            </a:endParaRPr>
          </a:p>
        </p:txBody>
      </p:sp>
      <p:pic>
        <p:nvPicPr>
          <p:cNvPr id="107" name="Google Shape;107;p3"/>
          <p:cNvPicPr preferRelativeResize="0"/>
          <p:nvPr/>
        </p:nvPicPr>
        <p:blipFill rotWithShape="1">
          <a:blip r:embed="rId3">
            <a:alphaModFix/>
          </a:blip>
          <a:srcRect b="0" l="0" r="0" t="0"/>
          <a:stretch/>
        </p:blipFill>
        <p:spPr>
          <a:xfrm>
            <a:off x="357352" y="191643"/>
            <a:ext cx="1103582" cy="1342897"/>
          </a:xfrm>
          <a:prstGeom prst="rect">
            <a:avLst/>
          </a:prstGeom>
          <a:noFill/>
          <a:ln>
            <a:noFill/>
          </a:ln>
        </p:spPr>
      </p:pic>
      <p:pic>
        <p:nvPicPr>
          <p:cNvPr id="108" name="Google Shape;108;p3"/>
          <p:cNvPicPr preferRelativeResize="0"/>
          <p:nvPr/>
        </p:nvPicPr>
        <p:blipFill rotWithShape="1">
          <a:blip r:embed="rId4">
            <a:alphaModFix/>
          </a:blip>
          <a:srcRect b="0" l="0" r="0" t="0"/>
          <a:stretch/>
        </p:blipFill>
        <p:spPr>
          <a:xfrm>
            <a:off x="10514203" y="191643"/>
            <a:ext cx="1520062" cy="1342897"/>
          </a:xfrm>
          <a:prstGeom prst="rect">
            <a:avLst/>
          </a:prstGeom>
          <a:noFill/>
          <a:ln>
            <a:noFill/>
          </a:ln>
        </p:spPr>
      </p:pic>
      <p:sp>
        <p:nvSpPr>
          <p:cNvPr id="109" name="Google Shape;109;p3"/>
          <p:cNvSpPr/>
          <p:nvPr/>
        </p:nvSpPr>
        <p:spPr>
          <a:xfrm>
            <a:off x="1214466" y="1718422"/>
            <a:ext cx="9763067" cy="3903954"/>
          </a:xfrm>
          <a:prstGeom prst="rect">
            <a:avLst/>
          </a:prstGeom>
          <a:noFill/>
          <a:ln>
            <a:noFill/>
          </a:ln>
        </p:spPr>
        <p:txBody>
          <a:bodyPr anchorCtr="0" anchor="ctr" bIns="45700" lIns="91425" spcFirstLastPara="1" rIns="91425" wrap="square" tIns="45700">
            <a:spAutoFit/>
          </a:bodyPr>
          <a:lstStyle/>
          <a:p>
            <a:pPr indent="0" lvl="0" marL="0" marR="0" rtl="0" algn="just">
              <a:lnSpc>
                <a:spcPct val="150000"/>
              </a:lnSpc>
              <a:spcBef>
                <a:spcPts val="0"/>
              </a:spcBef>
              <a:spcAft>
                <a:spcPts val="0"/>
              </a:spcAft>
              <a:buNone/>
            </a:pPr>
            <a:r>
              <a:rPr lang="en-US" sz="2400">
                <a:solidFill>
                  <a:schemeClr val="dk1"/>
                </a:solidFill>
                <a:latin typeface="Times New Roman"/>
                <a:ea typeface="Times New Roman"/>
                <a:cs typeface="Times New Roman"/>
                <a:sym typeface="Times New Roman"/>
              </a:rPr>
              <a:t>This project presents a Deep Learning-Based Smart Real-Time Emergency Resource Allocation and Inventory Monitoring System aimed at improving the efficiency and responsiveness of emergency management. The system leverages deep learning models to analyze historical and real-time data, enabling accurate prediction of resource demand during critical situations such as natural disasters or accidents. Its primary objective is to optimize the allocation of essential resources such as medical supplies, rescue equipment.</a:t>
            </a:r>
            <a:endParaRPr i="0" sz="2400" u="none" cap="none" strike="noStrike">
              <a:solidFill>
                <a:schemeClr val="dk1"/>
              </a:solidFill>
              <a:latin typeface="Times New Roman"/>
              <a:ea typeface="Times New Roman"/>
              <a:cs typeface="Times New Roman"/>
              <a:sym typeface="Times New Roman"/>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 name="Shape 114"/>
        <p:cNvGrpSpPr/>
        <p:nvPr/>
      </p:nvGrpSpPr>
      <p:grpSpPr>
        <a:xfrm>
          <a:off x="0" y="0"/>
          <a:ext cx="0" cy="0"/>
          <a:chOff x="0" y="0"/>
          <a:chExt cx="0" cy="0"/>
        </a:xfrm>
      </p:grpSpPr>
      <p:sp>
        <p:nvSpPr>
          <p:cNvPr id="115" name="Google Shape;115;p4"/>
          <p:cNvSpPr txBox="1"/>
          <p:nvPr>
            <p:ph type="title"/>
          </p:nvPr>
        </p:nvSpPr>
        <p:spPr>
          <a:xfrm>
            <a:off x="3073706" y="443991"/>
            <a:ext cx="5412120" cy="8382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FF0000"/>
              </a:buClr>
              <a:buSzPts val="4400"/>
              <a:buFont typeface="Times New Roman"/>
              <a:buNone/>
            </a:pPr>
            <a:r>
              <a:rPr lang="en-US">
                <a:solidFill>
                  <a:srgbClr val="FF0000"/>
                </a:solidFill>
                <a:latin typeface="Times New Roman"/>
                <a:ea typeface="Times New Roman"/>
                <a:cs typeface="Times New Roman"/>
                <a:sym typeface="Times New Roman"/>
              </a:rPr>
              <a:t>Introduction</a:t>
            </a:r>
            <a:endParaRPr>
              <a:solidFill>
                <a:srgbClr val="FF0000"/>
              </a:solidFill>
              <a:latin typeface="Times New Roman"/>
              <a:ea typeface="Times New Roman"/>
              <a:cs typeface="Times New Roman"/>
              <a:sym typeface="Times New Roman"/>
            </a:endParaRPr>
          </a:p>
        </p:txBody>
      </p:sp>
      <p:pic>
        <p:nvPicPr>
          <p:cNvPr id="116" name="Google Shape;116;p4"/>
          <p:cNvPicPr preferRelativeResize="0"/>
          <p:nvPr/>
        </p:nvPicPr>
        <p:blipFill rotWithShape="1">
          <a:blip r:embed="rId3">
            <a:alphaModFix/>
          </a:blip>
          <a:srcRect b="0" l="0" r="0" t="0"/>
          <a:stretch/>
        </p:blipFill>
        <p:spPr>
          <a:xfrm>
            <a:off x="357352" y="191643"/>
            <a:ext cx="1103582" cy="1342897"/>
          </a:xfrm>
          <a:prstGeom prst="rect">
            <a:avLst/>
          </a:prstGeom>
          <a:noFill/>
          <a:ln>
            <a:noFill/>
          </a:ln>
        </p:spPr>
      </p:pic>
      <p:pic>
        <p:nvPicPr>
          <p:cNvPr id="117" name="Google Shape;117;p4"/>
          <p:cNvPicPr preferRelativeResize="0"/>
          <p:nvPr/>
        </p:nvPicPr>
        <p:blipFill rotWithShape="1">
          <a:blip r:embed="rId4">
            <a:alphaModFix/>
          </a:blip>
          <a:srcRect b="0" l="0" r="0" t="0"/>
          <a:stretch/>
        </p:blipFill>
        <p:spPr>
          <a:xfrm>
            <a:off x="10514203" y="191643"/>
            <a:ext cx="1520062" cy="1342897"/>
          </a:xfrm>
          <a:prstGeom prst="rect">
            <a:avLst/>
          </a:prstGeom>
          <a:noFill/>
          <a:ln>
            <a:noFill/>
          </a:ln>
        </p:spPr>
      </p:pic>
      <p:sp>
        <p:nvSpPr>
          <p:cNvPr id="118" name="Google Shape;118;p4"/>
          <p:cNvSpPr/>
          <p:nvPr/>
        </p:nvSpPr>
        <p:spPr>
          <a:xfrm>
            <a:off x="909143" y="1534540"/>
            <a:ext cx="10449247" cy="5011949"/>
          </a:xfrm>
          <a:prstGeom prst="rect">
            <a:avLst/>
          </a:prstGeom>
          <a:noFill/>
          <a:ln>
            <a:noFill/>
          </a:ln>
        </p:spPr>
        <p:txBody>
          <a:bodyPr anchorCtr="0" anchor="ctr" bIns="45700" lIns="91425" spcFirstLastPara="1" rIns="91425" wrap="square" tIns="45700">
            <a:spAutoFit/>
          </a:bodyPr>
          <a:lstStyle/>
          <a:p>
            <a:pPr indent="-285750" lvl="0" marL="285750" marR="0" rtl="0" algn="l">
              <a:lnSpc>
                <a:spcPct val="150000"/>
              </a:lnSpc>
              <a:spcBef>
                <a:spcPts val="0"/>
              </a:spcBef>
              <a:spcAft>
                <a:spcPts val="0"/>
              </a:spcAft>
              <a:buClr>
                <a:schemeClr val="dk1"/>
              </a:buClr>
              <a:buSzPts val="2400"/>
              <a:buFont typeface="Arial"/>
              <a:buChar char="•"/>
            </a:pPr>
            <a:r>
              <a:rPr b="0" i="0" lang="en-US" sz="2400" u="none" cap="none" strike="noStrike">
                <a:solidFill>
                  <a:schemeClr val="dk1"/>
                </a:solidFill>
                <a:latin typeface="Times New Roman"/>
                <a:ea typeface="Times New Roman"/>
                <a:cs typeface="Times New Roman"/>
                <a:sym typeface="Times New Roman"/>
              </a:rPr>
              <a:t>Increasing number of natural disasters, accidents, and medical emergencies. </a:t>
            </a:r>
            <a:endParaRPr/>
          </a:p>
          <a:p>
            <a:pPr indent="-285750" lvl="0" marL="285750" marR="0" rtl="0" algn="l">
              <a:lnSpc>
                <a:spcPct val="150000"/>
              </a:lnSpc>
              <a:spcBef>
                <a:spcPts val="0"/>
              </a:spcBef>
              <a:spcAft>
                <a:spcPts val="0"/>
              </a:spcAft>
              <a:buClr>
                <a:schemeClr val="dk1"/>
              </a:buClr>
              <a:buSzPts val="2400"/>
              <a:buFont typeface="Arial"/>
              <a:buChar char="•"/>
            </a:pPr>
            <a:r>
              <a:rPr b="0" i="0" lang="en-US" sz="2400" u="none" cap="none" strike="noStrike">
                <a:solidFill>
                  <a:schemeClr val="dk1"/>
                </a:solidFill>
                <a:latin typeface="Times New Roman"/>
                <a:ea typeface="Times New Roman"/>
                <a:cs typeface="Times New Roman"/>
                <a:sym typeface="Times New Roman"/>
              </a:rPr>
              <a:t>Emergency response systems often face delays and inefficient resource allocation. </a:t>
            </a:r>
            <a:endParaRPr/>
          </a:p>
          <a:p>
            <a:pPr indent="-285750" lvl="0" marL="285750" marR="0" rtl="0" algn="l">
              <a:lnSpc>
                <a:spcPct val="150000"/>
              </a:lnSpc>
              <a:spcBef>
                <a:spcPts val="0"/>
              </a:spcBef>
              <a:spcAft>
                <a:spcPts val="0"/>
              </a:spcAft>
              <a:buClr>
                <a:schemeClr val="dk1"/>
              </a:buClr>
              <a:buSzPts val="2400"/>
              <a:buFont typeface="Arial"/>
              <a:buChar char="•"/>
            </a:pPr>
            <a:r>
              <a:rPr b="0" i="0" lang="en-US" sz="2400" u="none" cap="none" strike="noStrike">
                <a:solidFill>
                  <a:schemeClr val="dk1"/>
                </a:solidFill>
                <a:latin typeface="Times New Roman"/>
                <a:ea typeface="Times New Roman"/>
                <a:cs typeface="Times New Roman"/>
                <a:sym typeface="Times New Roman"/>
              </a:rPr>
              <a:t>Traditional emergency management methods are not effective for dynamic real-time situations. </a:t>
            </a:r>
            <a:endParaRPr/>
          </a:p>
          <a:p>
            <a:pPr indent="-285750" lvl="0" marL="285750" marR="0" rtl="0" algn="l">
              <a:lnSpc>
                <a:spcPct val="150000"/>
              </a:lnSpc>
              <a:spcBef>
                <a:spcPts val="0"/>
              </a:spcBef>
              <a:spcAft>
                <a:spcPts val="0"/>
              </a:spcAft>
              <a:buClr>
                <a:schemeClr val="dk1"/>
              </a:buClr>
              <a:buSzPts val="2400"/>
              <a:buFont typeface="Arial"/>
              <a:buChar char="•"/>
            </a:pPr>
            <a:r>
              <a:rPr lang="en-US" sz="2400">
                <a:solidFill>
                  <a:schemeClr val="dk1"/>
                </a:solidFill>
                <a:latin typeface="Times New Roman"/>
                <a:ea typeface="Times New Roman"/>
                <a:cs typeface="Times New Roman"/>
                <a:sym typeface="Times New Roman"/>
              </a:rPr>
              <a:t>LSTM is used for emergency resource demand prediction. </a:t>
            </a:r>
            <a:endParaRPr/>
          </a:p>
          <a:p>
            <a:pPr indent="-285750" lvl="0" marL="285750" marR="0" rtl="0" algn="l">
              <a:lnSpc>
                <a:spcPct val="150000"/>
              </a:lnSpc>
              <a:spcBef>
                <a:spcPts val="0"/>
              </a:spcBef>
              <a:spcAft>
                <a:spcPts val="0"/>
              </a:spcAft>
              <a:buClr>
                <a:schemeClr val="dk1"/>
              </a:buClr>
              <a:buSzPts val="2400"/>
              <a:buFont typeface="Arial"/>
              <a:buChar char="•"/>
            </a:pPr>
            <a:r>
              <a:rPr lang="en-US" sz="2400">
                <a:solidFill>
                  <a:schemeClr val="dk1"/>
                </a:solidFill>
                <a:latin typeface="Times New Roman"/>
                <a:ea typeface="Times New Roman"/>
                <a:cs typeface="Times New Roman"/>
                <a:sym typeface="Times New Roman"/>
              </a:rPr>
              <a:t>GRU is used for ETA (Estimated Time of Arrival) and travel time prediction. </a:t>
            </a:r>
            <a:endParaRPr/>
          </a:p>
          <a:p>
            <a:pPr indent="-285750" lvl="0" marL="285750" marR="0" rtl="0" algn="l">
              <a:lnSpc>
                <a:spcPct val="150000"/>
              </a:lnSpc>
              <a:spcBef>
                <a:spcPts val="0"/>
              </a:spcBef>
              <a:spcAft>
                <a:spcPts val="0"/>
              </a:spcAft>
              <a:buClr>
                <a:schemeClr val="dk1"/>
              </a:buClr>
              <a:buSzPts val="2400"/>
              <a:buFont typeface="Arial"/>
              <a:buChar char="•"/>
            </a:pPr>
            <a:r>
              <a:rPr lang="en-US" sz="2400">
                <a:solidFill>
                  <a:schemeClr val="dk1"/>
                </a:solidFill>
                <a:latin typeface="Times New Roman"/>
                <a:ea typeface="Times New Roman"/>
                <a:cs typeface="Times New Roman"/>
                <a:sym typeface="Times New Roman"/>
              </a:rPr>
              <a:t>This project develops a smart real-time system for efficient emergency resource allocation and inventory monitoring.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pic>
        <p:nvPicPr>
          <p:cNvPr id="123" name="Google Shape;123;p5"/>
          <p:cNvPicPr preferRelativeResize="0"/>
          <p:nvPr/>
        </p:nvPicPr>
        <p:blipFill rotWithShape="1">
          <a:blip r:embed="rId3">
            <a:alphaModFix/>
          </a:blip>
          <a:srcRect b="0" l="0" r="0" t="0"/>
          <a:stretch/>
        </p:blipFill>
        <p:spPr>
          <a:xfrm>
            <a:off x="10516689" y="162304"/>
            <a:ext cx="1514475" cy="1343025"/>
          </a:xfrm>
          <a:prstGeom prst="rect">
            <a:avLst/>
          </a:prstGeom>
          <a:noFill/>
          <a:ln>
            <a:noFill/>
          </a:ln>
        </p:spPr>
      </p:pic>
      <p:pic>
        <p:nvPicPr>
          <p:cNvPr id="124" name="Google Shape;124;p5"/>
          <p:cNvPicPr preferRelativeResize="0"/>
          <p:nvPr/>
        </p:nvPicPr>
        <p:blipFill rotWithShape="1">
          <a:blip r:embed="rId4">
            <a:alphaModFix/>
          </a:blip>
          <a:srcRect b="0" l="0" r="0" t="0"/>
          <a:stretch/>
        </p:blipFill>
        <p:spPr>
          <a:xfrm>
            <a:off x="348351" y="162304"/>
            <a:ext cx="1095375" cy="1343025"/>
          </a:xfrm>
          <a:prstGeom prst="rect">
            <a:avLst/>
          </a:prstGeom>
          <a:noFill/>
          <a:ln>
            <a:noFill/>
          </a:ln>
        </p:spPr>
      </p:pic>
      <p:sp>
        <p:nvSpPr>
          <p:cNvPr id="125" name="Google Shape;125;p5"/>
          <p:cNvSpPr txBox="1"/>
          <p:nvPr/>
        </p:nvSpPr>
        <p:spPr>
          <a:xfrm>
            <a:off x="1344575" y="223323"/>
            <a:ext cx="9072962" cy="76944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4400">
                <a:solidFill>
                  <a:srgbClr val="FF0000"/>
                </a:solidFill>
                <a:latin typeface="Times New Roman"/>
                <a:ea typeface="Times New Roman"/>
                <a:cs typeface="Times New Roman"/>
                <a:sym typeface="Times New Roman"/>
              </a:rPr>
              <a:t>Objectives</a:t>
            </a:r>
            <a:endParaRPr/>
          </a:p>
        </p:txBody>
      </p:sp>
      <p:pic>
        <p:nvPicPr>
          <p:cNvPr descr="10 best factors to consider to choose a WordPress theme" id="126" name="Google Shape;126;p5"/>
          <p:cNvPicPr preferRelativeResize="0"/>
          <p:nvPr/>
        </p:nvPicPr>
        <p:blipFill rotWithShape="1">
          <a:blip r:embed="rId5">
            <a:alphaModFix/>
          </a:blip>
          <a:srcRect b="303" l="0" r="-323" t="451"/>
          <a:stretch/>
        </p:blipFill>
        <p:spPr>
          <a:xfrm>
            <a:off x="588697" y="1791768"/>
            <a:ext cx="3490324" cy="3658948"/>
          </a:xfrm>
          <a:prstGeom prst="rect">
            <a:avLst/>
          </a:prstGeom>
          <a:noFill/>
          <a:ln>
            <a:noFill/>
          </a:ln>
        </p:spPr>
      </p:pic>
      <p:sp>
        <p:nvSpPr>
          <p:cNvPr id="127" name="Google Shape;127;p5"/>
          <p:cNvSpPr/>
          <p:nvPr/>
        </p:nvSpPr>
        <p:spPr>
          <a:xfrm>
            <a:off x="4493481" y="1943385"/>
            <a:ext cx="7239000" cy="3785652"/>
          </a:xfrm>
          <a:prstGeom prst="rect">
            <a:avLst/>
          </a:prstGeom>
          <a:noFill/>
          <a:ln>
            <a:noFill/>
          </a:ln>
        </p:spPr>
        <p:txBody>
          <a:bodyPr anchorCtr="0" anchor="ctr" bIns="45700" lIns="91425" spcFirstLastPara="1" rIns="91425" wrap="square" tIns="45700">
            <a:spAutoFit/>
          </a:bodyPr>
          <a:lstStyle/>
          <a:p>
            <a:pPr indent="-285750" lvl="0" marL="285750" marR="0" rtl="0" algn="just">
              <a:lnSpc>
                <a:spcPct val="100000"/>
              </a:lnSpc>
              <a:spcBef>
                <a:spcPts val="0"/>
              </a:spcBef>
              <a:spcAft>
                <a:spcPts val="0"/>
              </a:spcAft>
              <a:buClr>
                <a:schemeClr val="dk1"/>
              </a:buClr>
              <a:buSzPts val="2400"/>
              <a:buFont typeface="Arial"/>
              <a:buChar char="•"/>
            </a:pPr>
            <a:r>
              <a:rPr i="0" lang="en-US" sz="2400" u="none" cap="none" strike="noStrike">
                <a:solidFill>
                  <a:schemeClr val="dk1"/>
                </a:solidFill>
                <a:latin typeface="Times New Roman"/>
                <a:ea typeface="Times New Roman"/>
                <a:cs typeface="Times New Roman"/>
                <a:sym typeface="Times New Roman"/>
              </a:rPr>
              <a:t>Develop a deep learning-based system (LSTM–GRU) for accurate emergency resource demand prediction.</a:t>
            </a:r>
            <a:endParaRPr/>
          </a:p>
          <a:p>
            <a:pPr indent="-285750" lvl="0" marL="285750" marR="0" rtl="0" algn="just">
              <a:lnSpc>
                <a:spcPct val="100000"/>
              </a:lnSpc>
              <a:spcBef>
                <a:spcPts val="0"/>
              </a:spcBef>
              <a:spcAft>
                <a:spcPts val="0"/>
              </a:spcAft>
              <a:buClr>
                <a:schemeClr val="dk1"/>
              </a:buClr>
              <a:buSzPts val="2400"/>
              <a:buFont typeface="Arial"/>
              <a:buChar char="•"/>
            </a:pPr>
            <a:r>
              <a:rPr i="0" lang="en-US" sz="2400" u="none" cap="none" strike="noStrike">
                <a:solidFill>
                  <a:schemeClr val="dk1"/>
                </a:solidFill>
                <a:latin typeface="Times New Roman"/>
                <a:ea typeface="Times New Roman"/>
                <a:cs typeface="Times New Roman"/>
                <a:sym typeface="Times New Roman"/>
              </a:rPr>
              <a:t>Utilize historical and real-time data to forecast demand and estimate vehicle travel time (ETA). </a:t>
            </a:r>
            <a:endParaRPr/>
          </a:p>
          <a:p>
            <a:pPr indent="-285750" lvl="0" marL="285750" marR="0" rtl="0" algn="just">
              <a:lnSpc>
                <a:spcPct val="100000"/>
              </a:lnSpc>
              <a:spcBef>
                <a:spcPts val="0"/>
              </a:spcBef>
              <a:spcAft>
                <a:spcPts val="0"/>
              </a:spcAft>
              <a:buClr>
                <a:schemeClr val="dk1"/>
              </a:buClr>
              <a:buSzPts val="2400"/>
              <a:buFont typeface="Arial"/>
              <a:buChar char="•"/>
            </a:pPr>
            <a:r>
              <a:rPr i="0" lang="en-US" sz="2400" u="none" cap="none" strike="noStrike">
                <a:solidFill>
                  <a:schemeClr val="dk1"/>
                </a:solidFill>
                <a:latin typeface="Times New Roman"/>
                <a:ea typeface="Times New Roman"/>
                <a:cs typeface="Times New Roman"/>
                <a:sym typeface="Times New Roman"/>
              </a:rPr>
              <a:t>Design a smart resource allocation mechanism based on predicted demand and real-time availability. </a:t>
            </a:r>
            <a:endParaRPr/>
          </a:p>
          <a:p>
            <a:pPr indent="-285750" lvl="0" marL="285750" marR="0" rtl="0" algn="just">
              <a:lnSpc>
                <a:spcPct val="100000"/>
              </a:lnSpc>
              <a:spcBef>
                <a:spcPts val="0"/>
              </a:spcBef>
              <a:spcAft>
                <a:spcPts val="0"/>
              </a:spcAft>
              <a:buClr>
                <a:schemeClr val="dk1"/>
              </a:buClr>
              <a:buSzPts val="2400"/>
              <a:buFont typeface="Arial"/>
              <a:buChar char="•"/>
            </a:pPr>
            <a:r>
              <a:rPr i="0" lang="en-US" sz="2400" u="none" cap="none" strike="noStrike">
                <a:solidFill>
                  <a:schemeClr val="dk1"/>
                </a:solidFill>
                <a:latin typeface="Times New Roman"/>
                <a:ea typeface="Times New Roman"/>
                <a:cs typeface="Times New Roman"/>
                <a:sym typeface="Times New Roman"/>
              </a:rPr>
              <a:t>Enable efficient dispatch planning using ETA predictions to minimize delays. </a:t>
            </a:r>
            <a:endParaRPr/>
          </a:p>
          <a:p>
            <a:pPr indent="-285750" lvl="0" marL="285750" marR="0" rtl="0" algn="just">
              <a:lnSpc>
                <a:spcPct val="100000"/>
              </a:lnSpc>
              <a:spcBef>
                <a:spcPts val="0"/>
              </a:spcBef>
              <a:spcAft>
                <a:spcPts val="0"/>
              </a:spcAft>
              <a:buClr>
                <a:schemeClr val="dk1"/>
              </a:buClr>
              <a:buSzPts val="2400"/>
              <a:buFont typeface="Arial"/>
              <a:buChar char="•"/>
            </a:pPr>
            <a:r>
              <a:rPr i="0" lang="en-US" sz="2400" u="none" cap="none" strike="noStrike">
                <a:solidFill>
                  <a:schemeClr val="dk1"/>
                </a:solidFill>
                <a:latin typeface="Times New Roman"/>
                <a:ea typeface="Times New Roman"/>
                <a:cs typeface="Times New Roman"/>
                <a:sym typeface="Times New Roman"/>
              </a:rPr>
              <a:t>Ensure dynamic tracking and coordination of resources across multiple locations.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6"/>
          <p:cNvSpPr txBox="1"/>
          <p:nvPr>
            <p:ph type="title"/>
          </p:nvPr>
        </p:nvSpPr>
        <p:spPr>
          <a:xfrm>
            <a:off x="3051673" y="355856"/>
            <a:ext cx="5412120" cy="8382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FF0000"/>
              </a:buClr>
              <a:buSzPts val="4400"/>
              <a:buFont typeface="Times New Roman"/>
              <a:buNone/>
            </a:pPr>
            <a:r>
              <a:rPr lang="en-US">
                <a:solidFill>
                  <a:srgbClr val="FF0000"/>
                </a:solidFill>
                <a:latin typeface="Times New Roman"/>
                <a:ea typeface="Times New Roman"/>
                <a:cs typeface="Times New Roman"/>
                <a:sym typeface="Times New Roman"/>
              </a:rPr>
              <a:t>Literature survey</a:t>
            </a:r>
            <a:endParaRPr>
              <a:solidFill>
                <a:srgbClr val="FF0000"/>
              </a:solidFill>
              <a:latin typeface="Times New Roman"/>
              <a:ea typeface="Times New Roman"/>
              <a:cs typeface="Times New Roman"/>
              <a:sym typeface="Times New Roman"/>
            </a:endParaRPr>
          </a:p>
        </p:txBody>
      </p:sp>
      <p:pic>
        <p:nvPicPr>
          <p:cNvPr id="133" name="Google Shape;133;p6"/>
          <p:cNvPicPr preferRelativeResize="0"/>
          <p:nvPr/>
        </p:nvPicPr>
        <p:blipFill rotWithShape="1">
          <a:blip r:embed="rId3">
            <a:alphaModFix/>
          </a:blip>
          <a:srcRect b="0" l="0" r="0" t="0"/>
          <a:stretch/>
        </p:blipFill>
        <p:spPr>
          <a:xfrm>
            <a:off x="92027" y="0"/>
            <a:ext cx="1103582" cy="1342897"/>
          </a:xfrm>
          <a:prstGeom prst="rect">
            <a:avLst/>
          </a:prstGeom>
          <a:noFill/>
          <a:ln>
            <a:noFill/>
          </a:ln>
        </p:spPr>
      </p:pic>
      <p:pic>
        <p:nvPicPr>
          <p:cNvPr id="134" name="Google Shape;134;p6"/>
          <p:cNvPicPr preferRelativeResize="0"/>
          <p:nvPr/>
        </p:nvPicPr>
        <p:blipFill rotWithShape="1">
          <a:blip r:embed="rId4">
            <a:alphaModFix/>
          </a:blip>
          <a:srcRect b="0" l="0" r="0" t="0"/>
          <a:stretch/>
        </p:blipFill>
        <p:spPr>
          <a:xfrm>
            <a:off x="10671938" y="17422"/>
            <a:ext cx="1520062" cy="1342897"/>
          </a:xfrm>
          <a:prstGeom prst="rect">
            <a:avLst/>
          </a:prstGeom>
          <a:noFill/>
          <a:ln>
            <a:noFill/>
          </a:ln>
        </p:spPr>
      </p:pic>
      <p:graphicFrame>
        <p:nvGraphicFramePr>
          <p:cNvPr id="135" name="Google Shape;135;p6"/>
          <p:cNvGraphicFramePr/>
          <p:nvPr/>
        </p:nvGraphicFramePr>
        <p:xfrm>
          <a:off x="407624" y="1429614"/>
          <a:ext cx="3000000" cy="3000000"/>
        </p:xfrm>
        <a:graphic>
          <a:graphicData uri="http://schemas.openxmlformats.org/drawingml/2006/table">
            <a:tbl>
              <a:tblPr>
                <a:noFill/>
                <a:tableStyleId>{8CCC7983-BF4C-475B-9986-FC50F451A8D0}</a:tableStyleId>
              </a:tblPr>
              <a:tblGrid>
                <a:gridCol w="885500"/>
                <a:gridCol w="2344875"/>
                <a:gridCol w="1615200"/>
                <a:gridCol w="1615200"/>
                <a:gridCol w="1615200"/>
                <a:gridCol w="1615200"/>
                <a:gridCol w="1766375"/>
              </a:tblGrid>
              <a:tr h="499025">
                <a:tc>
                  <a:txBody>
                    <a:bodyPr/>
                    <a:lstStyle/>
                    <a:p>
                      <a:pPr indent="0" lvl="0" marL="0" marR="0" rtl="0" algn="ctr">
                        <a:spcBef>
                          <a:spcPts val="0"/>
                        </a:spcBef>
                        <a:spcAft>
                          <a:spcPts val="0"/>
                        </a:spcAft>
                        <a:buClr>
                          <a:schemeClr val="dk1"/>
                        </a:buClr>
                        <a:buSzPts val="1600"/>
                        <a:buFont typeface="Times New Roman"/>
                        <a:buNone/>
                      </a:pPr>
                      <a:r>
                        <a:rPr b="1" lang="en-US" sz="1600" u="none" cap="none" strike="noStrike">
                          <a:latin typeface="Times New Roman"/>
                          <a:ea typeface="Times New Roman"/>
                          <a:cs typeface="Times New Roman"/>
                          <a:sym typeface="Times New Roman"/>
                        </a:rPr>
                        <a:t>S. No.</a:t>
                      </a:r>
                      <a:endParaRPr/>
                    </a:p>
                  </a:txBody>
                  <a:tcPr marT="13025" marB="13025" marR="26050" marL="26050" anchor="ctr"/>
                </a:tc>
                <a:tc>
                  <a:txBody>
                    <a:bodyPr/>
                    <a:lstStyle/>
                    <a:p>
                      <a:pPr indent="0" lvl="0" marL="0" marR="0" rtl="0" algn="ctr">
                        <a:spcBef>
                          <a:spcPts val="0"/>
                        </a:spcBef>
                        <a:spcAft>
                          <a:spcPts val="0"/>
                        </a:spcAft>
                        <a:buClr>
                          <a:schemeClr val="dk1"/>
                        </a:buClr>
                        <a:buSzPts val="1600"/>
                        <a:buFont typeface="Times New Roman"/>
                        <a:buNone/>
                      </a:pPr>
                      <a:r>
                        <a:rPr b="1" lang="en-US" sz="1600" u="none" cap="none" strike="noStrike">
                          <a:latin typeface="Times New Roman"/>
                          <a:ea typeface="Times New Roman"/>
                          <a:cs typeface="Times New Roman"/>
                          <a:sym typeface="Times New Roman"/>
                        </a:rPr>
                        <a:t>Author(s) &amp; Year</a:t>
                      </a:r>
                      <a:endParaRPr/>
                    </a:p>
                  </a:txBody>
                  <a:tcPr marT="13025" marB="13025" marR="26050" marL="26050" anchor="ctr"/>
                </a:tc>
                <a:tc>
                  <a:txBody>
                    <a:bodyPr/>
                    <a:lstStyle/>
                    <a:p>
                      <a:pPr indent="0" lvl="0" marL="0" marR="0" rtl="0" algn="ctr">
                        <a:spcBef>
                          <a:spcPts val="0"/>
                        </a:spcBef>
                        <a:spcAft>
                          <a:spcPts val="0"/>
                        </a:spcAft>
                        <a:buClr>
                          <a:schemeClr val="dk1"/>
                        </a:buClr>
                        <a:buSzPts val="1600"/>
                        <a:buFont typeface="Times New Roman"/>
                        <a:buNone/>
                      </a:pPr>
                      <a:r>
                        <a:rPr b="1" lang="en-US" sz="1600" u="none" cap="none" strike="noStrike">
                          <a:latin typeface="Times New Roman"/>
                          <a:ea typeface="Times New Roman"/>
                          <a:cs typeface="Times New Roman"/>
                          <a:sym typeface="Times New Roman"/>
                        </a:rPr>
                        <a:t>Dataset Used</a:t>
                      </a:r>
                      <a:endParaRPr/>
                    </a:p>
                  </a:txBody>
                  <a:tcPr marT="13025" marB="13025" marR="26050" marL="26050" anchor="ctr"/>
                </a:tc>
                <a:tc>
                  <a:txBody>
                    <a:bodyPr/>
                    <a:lstStyle/>
                    <a:p>
                      <a:pPr indent="0" lvl="0" marL="0" marR="0" rtl="0" algn="ctr">
                        <a:spcBef>
                          <a:spcPts val="0"/>
                        </a:spcBef>
                        <a:spcAft>
                          <a:spcPts val="0"/>
                        </a:spcAft>
                        <a:buClr>
                          <a:schemeClr val="dk1"/>
                        </a:buClr>
                        <a:buSzPts val="1600"/>
                        <a:buFont typeface="Times New Roman"/>
                        <a:buNone/>
                      </a:pPr>
                      <a:r>
                        <a:rPr b="1" lang="en-US" sz="1600" u="none" cap="none" strike="noStrike">
                          <a:latin typeface="Times New Roman"/>
                          <a:ea typeface="Times New Roman"/>
                          <a:cs typeface="Times New Roman"/>
                          <a:sym typeface="Times New Roman"/>
                        </a:rPr>
                        <a:t>Algorithms / Methods</a:t>
                      </a:r>
                      <a:endParaRPr/>
                    </a:p>
                  </a:txBody>
                  <a:tcPr marT="13025" marB="13025" marR="26050" marL="26050" anchor="ctr"/>
                </a:tc>
                <a:tc>
                  <a:txBody>
                    <a:bodyPr/>
                    <a:lstStyle/>
                    <a:p>
                      <a:pPr indent="0" lvl="0" marL="0" marR="0" rtl="0" algn="ctr">
                        <a:spcBef>
                          <a:spcPts val="0"/>
                        </a:spcBef>
                        <a:spcAft>
                          <a:spcPts val="0"/>
                        </a:spcAft>
                        <a:buClr>
                          <a:schemeClr val="dk1"/>
                        </a:buClr>
                        <a:buSzPts val="1600"/>
                        <a:buFont typeface="Times New Roman"/>
                        <a:buNone/>
                      </a:pPr>
                      <a:r>
                        <a:rPr b="1" lang="en-US" sz="1600" u="none" cap="none" strike="noStrike">
                          <a:latin typeface="Times New Roman"/>
                          <a:ea typeface="Times New Roman"/>
                          <a:cs typeface="Times New Roman"/>
                          <a:sym typeface="Times New Roman"/>
                        </a:rPr>
                        <a:t>Feature Extraction</a:t>
                      </a:r>
                      <a:endParaRPr/>
                    </a:p>
                  </a:txBody>
                  <a:tcPr marT="13025" marB="13025" marR="26050" marL="26050" anchor="ctr"/>
                </a:tc>
                <a:tc>
                  <a:txBody>
                    <a:bodyPr/>
                    <a:lstStyle/>
                    <a:p>
                      <a:pPr indent="0" lvl="0" marL="0" marR="0" rtl="0" algn="ctr">
                        <a:spcBef>
                          <a:spcPts val="0"/>
                        </a:spcBef>
                        <a:spcAft>
                          <a:spcPts val="0"/>
                        </a:spcAft>
                        <a:buClr>
                          <a:schemeClr val="dk1"/>
                        </a:buClr>
                        <a:buSzPts val="1600"/>
                        <a:buFont typeface="Times New Roman"/>
                        <a:buNone/>
                      </a:pPr>
                      <a:r>
                        <a:rPr b="1" lang="en-US" sz="1600" u="none" cap="none" strike="noStrike">
                          <a:latin typeface="Times New Roman"/>
                          <a:ea typeface="Times New Roman"/>
                          <a:cs typeface="Times New Roman"/>
                          <a:sym typeface="Times New Roman"/>
                        </a:rPr>
                        <a:t>Key Findings</a:t>
                      </a:r>
                      <a:endParaRPr/>
                    </a:p>
                  </a:txBody>
                  <a:tcPr marT="13025" marB="13025" marR="26050" marL="26050" anchor="ctr"/>
                </a:tc>
                <a:tc>
                  <a:txBody>
                    <a:bodyPr/>
                    <a:lstStyle/>
                    <a:p>
                      <a:pPr indent="0" lvl="0" marL="0" marR="0" rtl="0" algn="ctr">
                        <a:spcBef>
                          <a:spcPts val="0"/>
                        </a:spcBef>
                        <a:spcAft>
                          <a:spcPts val="0"/>
                        </a:spcAft>
                        <a:buClr>
                          <a:schemeClr val="dk1"/>
                        </a:buClr>
                        <a:buSzPts val="1600"/>
                        <a:buFont typeface="Times New Roman"/>
                        <a:buNone/>
                      </a:pPr>
                      <a:r>
                        <a:rPr b="1" lang="en-US" sz="1600" u="none" cap="none" strike="noStrike">
                          <a:latin typeface="Times New Roman"/>
                          <a:ea typeface="Times New Roman"/>
                          <a:cs typeface="Times New Roman"/>
                          <a:sym typeface="Times New Roman"/>
                        </a:rPr>
                        <a:t>Limitations</a:t>
                      </a:r>
                      <a:endParaRPr/>
                    </a:p>
                  </a:txBody>
                  <a:tcPr marT="13025" marB="13025" marR="26050" marL="26050" anchor="ctr"/>
                </a:tc>
              </a:tr>
              <a:tr h="972725">
                <a:tc>
                  <a:txBody>
                    <a:bodyPr/>
                    <a:lstStyle/>
                    <a:p>
                      <a:pPr indent="0" lvl="0" marL="0" marR="0" rtl="0" algn="ctr">
                        <a:spcBef>
                          <a:spcPts val="0"/>
                        </a:spcBef>
                        <a:spcAft>
                          <a:spcPts val="0"/>
                        </a:spcAft>
                        <a:buClr>
                          <a:schemeClr val="dk1"/>
                        </a:buClr>
                        <a:buSzPts val="1600"/>
                        <a:buFont typeface="Times New Roman"/>
                        <a:buNone/>
                      </a:pPr>
                      <a:r>
                        <a:rPr lang="en-US" sz="1600" u="none" cap="none" strike="noStrike">
                          <a:latin typeface="Times New Roman"/>
                          <a:ea typeface="Times New Roman"/>
                          <a:cs typeface="Times New Roman"/>
                          <a:sym typeface="Times New Roman"/>
                        </a:rPr>
                        <a:t>1</a:t>
                      </a:r>
                      <a:endParaRPr/>
                    </a:p>
                  </a:txBody>
                  <a:tcPr marT="13025" marB="13025" marR="26050" marL="26050" anchor="ctr"/>
                </a:tc>
                <a:tc>
                  <a:txBody>
                    <a:bodyPr/>
                    <a:lstStyle/>
                    <a:p>
                      <a:pPr indent="0" lvl="0" marL="0" marR="0" rtl="0" algn="l">
                        <a:spcBef>
                          <a:spcPts val="0"/>
                        </a:spcBef>
                        <a:spcAft>
                          <a:spcPts val="0"/>
                        </a:spcAft>
                        <a:buClr>
                          <a:schemeClr val="dk1"/>
                        </a:buClr>
                        <a:buSzPts val="1600"/>
                        <a:buFont typeface="Times New Roman"/>
                        <a:buNone/>
                      </a:pPr>
                      <a:r>
                        <a:rPr lang="en-US" sz="1600" u="none" cap="none" strike="noStrike">
                          <a:latin typeface="Times New Roman"/>
                          <a:ea typeface="Times New Roman"/>
                          <a:cs typeface="Times New Roman"/>
                          <a:sym typeface="Times New Roman"/>
                        </a:rPr>
                        <a:t>S. Patel et al. (2024)</a:t>
                      </a:r>
                      <a:endParaRPr/>
                    </a:p>
                  </a:txBody>
                  <a:tcPr marT="13025" marB="13025" marR="26050" marL="26050" anchor="ctr"/>
                </a:tc>
                <a:tc>
                  <a:txBody>
                    <a:bodyPr/>
                    <a:lstStyle/>
                    <a:p>
                      <a:pPr indent="0" lvl="0" marL="0" marR="0" rtl="0" algn="l">
                        <a:spcBef>
                          <a:spcPts val="0"/>
                        </a:spcBef>
                        <a:spcAft>
                          <a:spcPts val="0"/>
                        </a:spcAft>
                        <a:buClr>
                          <a:schemeClr val="dk1"/>
                        </a:buClr>
                        <a:buSzPts val="1600"/>
                        <a:buFont typeface="Times New Roman"/>
                        <a:buNone/>
                      </a:pPr>
                      <a:r>
                        <a:rPr lang="en-US" sz="1600" u="none" cap="none" strike="noStrike">
                          <a:latin typeface="Times New Roman"/>
                          <a:ea typeface="Times New Roman"/>
                          <a:cs typeface="Times New Roman"/>
                          <a:sym typeface="Times New Roman"/>
                        </a:rPr>
                        <a:t>Emergency Response Dataset</a:t>
                      </a:r>
                      <a:endParaRPr/>
                    </a:p>
                  </a:txBody>
                  <a:tcPr marT="13025" marB="13025" marR="26050" marL="26050" anchor="ctr"/>
                </a:tc>
                <a:tc>
                  <a:txBody>
                    <a:bodyPr/>
                    <a:lstStyle/>
                    <a:p>
                      <a:pPr indent="0" lvl="0" marL="0" marR="0" rtl="0" algn="l">
                        <a:spcBef>
                          <a:spcPts val="0"/>
                        </a:spcBef>
                        <a:spcAft>
                          <a:spcPts val="0"/>
                        </a:spcAft>
                        <a:buClr>
                          <a:schemeClr val="dk1"/>
                        </a:buClr>
                        <a:buSzPts val="1600"/>
                        <a:buFont typeface="Times New Roman"/>
                        <a:buNone/>
                      </a:pPr>
                      <a:r>
                        <a:rPr lang="en-US" sz="1600" u="none" cap="none" strike="noStrike">
                          <a:latin typeface="Times New Roman"/>
                          <a:ea typeface="Times New Roman"/>
                          <a:cs typeface="Times New Roman"/>
                          <a:sym typeface="Times New Roman"/>
                        </a:rPr>
                        <a:t>Reinforcement Learning</a:t>
                      </a:r>
                      <a:endParaRPr/>
                    </a:p>
                  </a:txBody>
                  <a:tcPr marT="13025" marB="13025" marR="26050" marL="26050" anchor="ctr"/>
                </a:tc>
                <a:tc>
                  <a:txBody>
                    <a:bodyPr/>
                    <a:lstStyle/>
                    <a:p>
                      <a:pPr indent="0" lvl="0" marL="0" marR="0" rtl="0" algn="l">
                        <a:spcBef>
                          <a:spcPts val="0"/>
                        </a:spcBef>
                        <a:spcAft>
                          <a:spcPts val="0"/>
                        </a:spcAft>
                        <a:buClr>
                          <a:schemeClr val="dk1"/>
                        </a:buClr>
                        <a:buSzPts val="1600"/>
                        <a:buFont typeface="Times New Roman"/>
                        <a:buNone/>
                      </a:pPr>
                      <a:r>
                        <a:rPr lang="en-US" sz="1600" u="none" cap="none" strike="noStrike">
                          <a:latin typeface="Times New Roman"/>
                          <a:ea typeface="Times New Roman"/>
                          <a:cs typeface="Times New Roman"/>
                          <a:sym typeface="Times New Roman"/>
                        </a:rPr>
                        <a:t>State-action features</a:t>
                      </a:r>
                      <a:endParaRPr/>
                    </a:p>
                  </a:txBody>
                  <a:tcPr marT="13025" marB="13025" marR="26050" marL="26050" anchor="ctr"/>
                </a:tc>
                <a:tc>
                  <a:txBody>
                    <a:bodyPr/>
                    <a:lstStyle/>
                    <a:p>
                      <a:pPr indent="0" lvl="0" marL="0" marR="0" rtl="0" algn="l">
                        <a:spcBef>
                          <a:spcPts val="0"/>
                        </a:spcBef>
                        <a:spcAft>
                          <a:spcPts val="0"/>
                        </a:spcAft>
                        <a:buClr>
                          <a:schemeClr val="dk1"/>
                        </a:buClr>
                        <a:buSzPts val="1600"/>
                        <a:buFont typeface="Times New Roman"/>
                        <a:buNone/>
                      </a:pPr>
                      <a:r>
                        <a:rPr lang="en-US" sz="1600" u="none" cap="none" strike="noStrike">
                          <a:latin typeface="Times New Roman"/>
                          <a:ea typeface="Times New Roman"/>
                          <a:cs typeface="Times New Roman"/>
                          <a:sym typeface="Times New Roman"/>
                        </a:rPr>
                        <a:t>RL optimized dynamic resource allocation in real-time scenarios</a:t>
                      </a:r>
                      <a:endParaRPr/>
                    </a:p>
                  </a:txBody>
                  <a:tcPr marT="13025" marB="13025" marR="26050" marL="26050" anchor="ctr"/>
                </a:tc>
                <a:tc>
                  <a:txBody>
                    <a:bodyPr/>
                    <a:lstStyle/>
                    <a:p>
                      <a:pPr indent="0" lvl="0" marL="0" marR="0" rtl="0" algn="l">
                        <a:spcBef>
                          <a:spcPts val="0"/>
                        </a:spcBef>
                        <a:spcAft>
                          <a:spcPts val="0"/>
                        </a:spcAft>
                        <a:buClr>
                          <a:schemeClr val="dk1"/>
                        </a:buClr>
                        <a:buSzPts val="1600"/>
                        <a:buFont typeface="Times New Roman"/>
                        <a:buNone/>
                      </a:pPr>
                      <a:r>
                        <a:rPr lang="en-US" sz="1600" u="none" cap="none" strike="noStrike">
                          <a:latin typeface="Times New Roman"/>
                          <a:ea typeface="Times New Roman"/>
                          <a:cs typeface="Times New Roman"/>
                          <a:sym typeface="Times New Roman"/>
                        </a:rPr>
                        <a:t>High training complexity</a:t>
                      </a:r>
                      <a:endParaRPr/>
                    </a:p>
                  </a:txBody>
                  <a:tcPr marT="13025" marB="13025" marR="26050" marL="26050" anchor="ctr"/>
                </a:tc>
              </a:tr>
              <a:tr h="1301525">
                <a:tc>
                  <a:txBody>
                    <a:bodyPr/>
                    <a:lstStyle/>
                    <a:p>
                      <a:pPr indent="0" lvl="0" marL="0" marR="0" rtl="0" algn="ctr">
                        <a:spcBef>
                          <a:spcPts val="0"/>
                        </a:spcBef>
                        <a:spcAft>
                          <a:spcPts val="0"/>
                        </a:spcAft>
                        <a:buClr>
                          <a:schemeClr val="dk1"/>
                        </a:buClr>
                        <a:buSzPts val="1600"/>
                        <a:buFont typeface="Times New Roman"/>
                        <a:buNone/>
                      </a:pPr>
                      <a:r>
                        <a:rPr lang="en-US" sz="1600" u="none" cap="none" strike="noStrike">
                          <a:latin typeface="Times New Roman"/>
                          <a:ea typeface="Times New Roman"/>
                          <a:cs typeface="Times New Roman"/>
                          <a:sym typeface="Times New Roman"/>
                        </a:rPr>
                        <a:t>2</a:t>
                      </a:r>
                      <a:endParaRPr/>
                    </a:p>
                  </a:txBody>
                  <a:tcPr marT="13025" marB="13025" marR="26050" marL="26050" anchor="ctr"/>
                </a:tc>
                <a:tc>
                  <a:txBody>
                    <a:bodyPr/>
                    <a:lstStyle/>
                    <a:p>
                      <a:pPr indent="0" lvl="0" marL="0" marR="0" rtl="0" algn="l">
                        <a:spcBef>
                          <a:spcPts val="0"/>
                        </a:spcBef>
                        <a:spcAft>
                          <a:spcPts val="0"/>
                        </a:spcAft>
                        <a:buClr>
                          <a:schemeClr val="dk1"/>
                        </a:buClr>
                        <a:buSzPts val="1600"/>
                        <a:buFont typeface="Times New Roman"/>
                        <a:buNone/>
                      </a:pPr>
                      <a:r>
                        <a:rPr lang="en-US" sz="1600" u="none" cap="none" strike="noStrike">
                          <a:latin typeface="Times New Roman"/>
                          <a:ea typeface="Times New Roman"/>
                          <a:cs typeface="Times New Roman"/>
                          <a:sym typeface="Times New Roman"/>
                        </a:rPr>
                        <a:t>M. Lee et al. (2024)</a:t>
                      </a:r>
                      <a:endParaRPr/>
                    </a:p>
                  </a:txBody>
                  <a:tcPr marT="13025" marB="13025" marR="26050" marL="26050" anchor="ctr"/>
                </a:tc>
                <a:tc>
                  <a:txBody>
                    <a:bodyPr/>
                    <a:lstStyle/>
                    <a:p>
                      <a:pPr indent="0" lvl="0" marL="0" marR="0" rtl="0" algn="l">
                        <a:spcBef>
                          <a:spcPts val="0"/>
                        </a:spcBef>
                        <a:spcAft>
                          <a:spcPts val="0"/>
                        </a:spcAft>
                        <a:buClr>
                          <a:schemeClr val="dk1"/>
                        </a:buClr>
                        <a:buSzPts val="1600"/>
                        <a:buFont typeface="Times New Roman"/>
                        <a:buNone/>
                      </a:pPr>
                      <a:r>
                        <a:rPr lang="en-US" sz="1600" u="none" cap="none" strike="noStrike">
                          <a:latin typeface="Times New Roman"/>
                          <a:ea typeface="Times New Roman"/>
                          <a:cs typeface="Times New Roman"/>
                          <a:sym typeface="Times New Roman"/>
                        </a:rPr>
                        <a:t>Multi-source Disaster Data</a:t>
                      </a:r>
                      <a:endParaRPr/>
                    </a:p>
                  </a:txBody>
                  <a:tcPr marT="13025" marB="13025" marR="26050" marL="26050" anchor="ctr"/>
                </a:tc>
                <a:tc>
                  <a:txBody>
                    <a:bodyPr/>
                    <a:lstStyle/>
                    <a:p>
                      <a:pPr indent="0" lvl="0" marL="0" marR="0" rtl="0" algn="l">
                        <a:spcBef>
                          <a:spcPts val="0"/>
                        </a:spcBef>
                        <a:spcAft>
                          <a:spcPts val="0"/>
                        </a:spcAft>
                        <a:buClr>
                          <a:schemeClr val="dk1"/>
                        </a:buClr>
                        <a:buSzPts val="1600"/>
                        <a:buFont typeface="Times New Roman"/>
                        <a:buNone/>
                      </a:pPr>
                      <a:r>
                        <a:rPr lang="en-US" sz="1600" u="none" cap="none" strike="noStrike">
                          <a:latin typeface="Times New Roman"/>
                          <a:ea typeface="Times New Roman"/>
                          <a:cs typeface="Times New Roman"/>
                          <a:sym typeface="Times New Roman"/>
                        </a:rPr>
                        <a:t>Hybrid DL Models (CNN + LSTM)</a:t>
                      </a:r>
                      <a:endParaRPr/>
                    </a:p>
                  </a:txBody>
                  <a:tcPr marT="13025" marB="13025" marR="26050" marL="26050" anchor="ctr"/>
                </a:tc>
                <a:tc>
                  <a:txBody>
                    <a:bodyPr/>
                    <a:lstStyle/>
                    <a:p>
                      <a:pPr indent="0" lvl="0" marL="0" marR="0" rtl="0" algn="l">
                        <a:spcBef>
                          <a:spcPts val="0"/>
                        </a:spcBef>
                        <a:spcAft>
                          <a:spcPts val="0"/>
                        </a:spcAft>
                        <a:buClr>
                          <a:schemeClr val="dk1"/>
                        </a:buClr>
                        <a:buSzPts val="1600"/>
                        <a:buFont typeface="Times New Roman"/>
                        <a:buNone/>
                      </a:pPr>
                      <a:r>
                        <a:rPr lang="en-US" sz="1600" u="none" cap="none" strike="noStrike">
                          <a:latin typeface="Times New Roman"/>
                          <a:ea typeface="Times New Roman"/>
                          <a:cs typeface="Times New Roman"/>
                          <a:sym typeface="Times New Roman"/>
                        </a:rPr>
                        <a:t>Temporal + spatial features</a:t>
                      </a:r>
                      <a:endParaRPr/>
                    </a:p>
                  </a:txBody>
                  <a:tcPr marT="13025" marB="13025" marR="26050" marL="26050" anchor="ctr"/>
                </a:tc>
                <a:tc>
                  <a:txBody>
                    <a:bodyPr/>
                    <a:lstStyle/>
                    <a:p>
                      <a:pPr indent="0" lvl="0" marL="0" marR="0" rtl="0" algn="l">
                        <a:spcBef>
                          <a:spcPts val="0"/>
                        </a:spcBef>
                        <a:spcAft>
                          <a:spcPts val="0"/>
                        </a:spcAft>
                        <a:buClr>
                          <a:schemeClr val="dk1"/>
                        </a:buClr>
                        <a:buSzPts val="1600"/>
                        <a:buFont typeface="Times New Roman"/>
                        <a:buNone/>
                      </a:pPr>
                      <a:r>
                        <a:rPr lang="en-US" sz="1600" u="none" cap="none" strike="noStrike">
                          <a:latin typeface="Times New Roman"/>
                          <a:ea typeface="Times New Roman"/>
                          <a:cs typeface="Times New Roman"/>
                          <a:sym typeface="Times New Roman"/>
                        </a:rPr>
                        <a:t>Hybrid models enhanced prediction of disaster impact and resource needs</a:t>
                      </a:r>
                      <a:endParaRPr/>
                    </a:p>
                  </a:txBody>
                  <a:tcPr marT="13025" marB="13025" marR="26050" marL="26050" anchor="ctr"/>
                </a:tc>
                <a:tc>
                  <a:txBody>
                    <a:bodyPr/>
                    <a:lstStyle/>
                    <a:p>
                      <a:pPr indent="0" lvl="0" marL="0" marR="0" rtl="0" algn="l">
                        <a:spcBef>
                          <a:spcPts val="0"/>
                        </a:spcBef>
                        <a:spcAft>
                          <a:spcPts val="0"/>
                        </a:spcAft>
                        <a:buClr>
                          <a:schemeClr val="dk1"/>
                        </a:buClr>
                        <a:buSzPts val="1600"/>
                        <a:buFont typeface="Times New Roman"/>
                        <a:buNone/>
                      </a:pPr>
                      <a:r>
                        <a:rPr lang="en-US" sz="1600" u="none" cap="none" strike="noStrike">
                          <a:latin typeface="Times New Roman"/>
                          <a:ea typeface="Times New Roman"/>
                          <a:cs typeface="Times New Roman"/>
                          <a:sym typeface="Times New Roman"/>
                        </a:rPr>
                        <a:t>Computational cost is high</a:t>
                      </a:r>
                      <a:endParaRPr/>
                    </a:p>
                  </a:txBody>
                  <a:tcPr marT="13025" marB="13025" marR="26050" marL="26050" anchor="ctr"/>
                </a:tc>
              </a:tr>
              <a:tr h="1088400">
                <a:tc>
                  <a:txBody>
                    <a:bodyPr/>
                    <a:lstStyle/>
                    <a:p>
                      <a:pPr indent="0" lvl="0" marL="0" marR="0" rtl="0" algn="ctr">
                        <a:spcBef>
                          <a:spcPts val="0"/>
                        </a:spcBef>
                        <a:spcAft>
                          <a:spcPts val="0"/>
                        </a:spcAft>
                        <a:buClr>
                          <a:schemeClr val="dk1"/>
                        </a:buClr>
                        <a:buSzPts val="1600"/>
                        <a:buFont typeface="Times New Roman"/>
                        <a:buNone/>
                      </a:pPr>
                      <a:r>
                        <a:rPr lang="en-US" sz="1600" u="none" cap="none" strike="noStrike">
                          <a:latin typeface="Times New Roman"/>
                          <a:ea typeface="Times New Roman"/>
                          <a:cs typeface="Times New Roman"/>
                          <a:sym typeface="Times New Roman"/>
                        </a:rPr>
                        <a:t>3</a:t>
                      </a:r>
                      <a:endParaRPr/>
                    </a:p>
                  </a:txBody>
                  <a:tcPr marT="13025" marB="13025" marR="26050" marL="26050" anchor="ctr"/>
                </a:tc>
                <a:tc>
                  <a:txBody>
                    <a:bodyPr/>
                    <a:lstStyle/>
                    <a:p>
                      <a:pPr indent="0" lvl="0" marL="0" marR="0" rtl="0" algn="l">
                        <a:spcBef>
                          <a:spcPts val="0"/>
                        </a:spcBef>
                        <a:spcAft>
                          <a:spcPts val="0"/>
                        </a:spcAft>
                        <a:buClr>
                          <a:schemeClr val="dk1"/>
                        </a:buClr>
                        <a:buSzPts val="1600"/>
                        <a:buFont typeface="Times New Roman"/>
                        <a:buNone/>
                      </a:pPr>
                      <a:r>
                        <a:rPr lang="en-US" sz="1600" u="none" cap="none" strike="noStrike">
                          <a:latin typeface="Times New Roman"/>
                          <a:ea typeface="Times New Roman"/>
                          <a:cs typeface="Times New Roman"/>
                          <a:sym typeface="Times New Roman"/>
                        </a:rPr>
                        <a:t>P. Singh et al. (2024)</a:t>
                      </a:r>
                      <a:endParaRPr/>
                    </a:p>
                  </a:txBody>
                  <a:tcPr marT="13025" marB="13025" marR="26050" marL="26050" anchor="ctr"/>
                </a:tc>
                <a:tc>
                  <a:txBody>
                    <a:bodyPr/>
                    <a:lstStyle/>
                    <a:p>
                      <a:pPr indent="0" lvl="0" marL="0" marR="0" rtl="0" algn="l">
                        <a:spcBef>
                          <a:spcPts val="0"/>
                        </a:spcBef>
                        <a:spcAft>
                          <a:spcPts val="0"/>
                        </a:spcAft>
                        <a:buClr>
                          <a:schemeClr val="dk1"/>
                        </a:buClr>
                        <a:buSzPts val="1600"/>
                        <a:buFont typeface="Times New Roman"/>
                        <a:buNone/>
                      </a:pPr>
                      <a:r>
                        <a:rPr lang="en-US" sz="1600" u="none" cap="none" strike="noStrike">
                          <a:latin typeface="Times New Roman"/>
                          <a:ea typeface="Times New Roman"/>
                          <a:cs typeface="Times New Roman"/>
                          <a:sym typeface="Times New Roman"/>
                        </a:rPr>
                        <a:t>Logistics &amp; Supply Chain Dataset</a:t>
                      </a:r>
                      <a:endParaRPr/>
                    </a:p>
                  </a:txBody>
                  <a:tcPr marT="13025" marB="13025" marR="26050" marL="26050" anchor="ctr"/>
                </a:tc>
                <a:tc>
                  <a:txBody>
                    <a:bodyPr/>
                    <a:lstStyle/>
                    <a:p>
                      <a:pPr indent="0" lvl="0" marL="0" marR="0" rtl="0" algn="l">
                        <a:spcBef>
                          <a:spcPts val="0"/>
                        </a:spcBef>
                        <a:spcAft>
                          <a:spcPts val="0"/>
                        </a:spcAft>
                        <a:buClr>
                          <a:schemeClr val="dk1"/>
                        </a:buClr>
                        <a:buSzPts val="1600"/>
                        <a:buFont typeface="Times New Roman"/>
                        <a:buNone/>
                      </a:pPr>
                      <a:r>
                        <a:rPr lang="en-US" sz="1600" u="none" cap="none" strike="noStrike">
                          <a:latin typeface="Times New Roman"/>
                          <a:ea typeface="Times New Roman"/>
                          <a:cs typeface="Times New Roman"/>
                          <a:sym typeface="Times New Roman"/>
                        </a:rPr>
                        <a:t>Optimization Algorithms + DL</a:t>
                      </a:r>
                      <a:endParaRPr/>
                    </a:p>
                  </a:txBody>
                  <a:tcPr marT="13025" marB="13025" marR="26050" marL="26050" anchor="ctr"/>
                </a:tc>
                <a:tc>
                  <a:txBody>
                    <a:bodyPr/>
                    <a:lstStyle/>
                    <a:p>
                      <a:pPr indent="0" lvl="0" marL="0" marR="0" rtl="0" algn="l">
                        <a:spcBef>
                          <a:spcPts val="0"/>
                        </a:spcBef>
                        <a:spcAft>
                          <a:spcPts val="0"/>
                        </a:spcAft>
                        <a:buClr>
                          <a:schemeClr val="dk1"/>
                        </a:buClr>
                        <a:buSzPts val="1600"/>
                        <a:buFont typeface="Times New Roman"/>
                        <a:buNone/>
                      </a:pPr>
                      <a:r>
                        <a:rPr lang="en-US" sz="1600" u="none" cap="none" strike="noStrike">
                          <a:latin typeface="Times New Roman"/>
                          <a:ea typeface="Times New Roman"/>
                          <a:cs typeface="Times New Roman"/>
                          <a:sym typeface="Times New Roman"/>
                        </a:rPr>
                        <a:t>Demand patterns</a:t>
                      </a:r>
                      <a:endParaRPr/>
                    </a:p>
                  </a:txBody>
                  <a:tcPr marT="13025" marB="13025" marR="26050" marL="26050" anchor="ctr"/>
                </a:tc>
                <a:tc>
                  <a:txBody>
                    <a:bodyPr/>
                    <a:lstStyle/>
                    <a:p>
                      <a:pPr indent="0" lvl="0" marL="0" marR="0" rtl="0" algn="l">
                        <a:spcBef>
                          <a:spcPts val="0"/>
                        </a:spcBef>
                        <a:spcAft>
                          <a:spcPts val="0"/>
                        </a:spcAft>
                        <a:buClr>
                          <a:schemeClr val="dk1"/>
                        </a:buClr>
                        <a:buSzPts val="1600"/>
                        <a:buFont typeface="Times New Roman"/>
                        <a:buNone/>
                      </a:pPr>
                      <a:r>
                        <a:rPr lang="en-US" sz="1600" u="none" cap="none" strike="noStrike">
                          <a:latin typeface="Times New Roman"/>
                          <a:ea typeface="Times New Roman"/>
                          <a:cs typeface="Times New Roman"/>
                          <a:sym typeface="Times New Roman"/>
                        </a:rPr>
                        <a:t>Improved resource distribution efficiency across multiple locations</a:t>
                      </a:r>
                      <a:endParaRPr/>
                    </a:p>
                  </a:txBody>
                  <a:tcPr marT="13025" marB="13025" marR="26050" marL="26050" anchor="ctr"/>
                </a:tc>
                <a:tc>
                  <a:txBody>
                    <a:bodyPr/>
                    <a:lstStyle/>
                    <a:p>
                      <a:pPr indent="0" lvl="0" marL="0" marR="0" rtl="0" algn="l">
                        <a:spcBef>
                          <a:spcPts val="0"/>
                        </a:spcBef>
                        <a:spcAft>
                          <a:spcPts val="0"/>
                        </a:spcAft>
                        <a:buClr>
                          <a:schemeClr val="dk1"/>
                        </a:buClr>
                        <a:buSzPts val="1600"/>
                        <a:buFont typeface="Times New Roman"/>
                        <a:buNone/>
                      </a:pPr>
                      <a:r>
                        <a:rPr lang="en-US" sz="1600" u="none" cap="none" strike="noStrike">
                          <a:latin typeface="Times New Roman"/>
                          <a:ea typeface="Times New Roman"/>
                          <a:cs typeface="Times New Roman"/>
                          <a:sym typeface="Times New Roman"/>
                        </a:rPr>
                        <a:t>Limited scalability in large-scale disasters</a:t>
                      </a:r>
                      <a:endParaRPr/>
                    </a:p>
                  </a:txBody>
                  <a:tcPr marT="13025" marB="13025" marR="26050" marL="26050" anchor="ctr"/>
                </a:tc>
              </a:tr>
              <a:tr h="1088400">
                <a:tc>
                  <a:txBody>
                    <a:bodyPr/>
                    <a:lstStyle/>
                    <a:p>
                      <a:pPr indent="0" lvl="0" marL="0" marR="0" rtl="0" algn="ctr">
                        <a:spcBef>
                          <a:spcPts val="0"/>
                        </a:spcBef>
                        <a:spcAft>
                          <a:spcPts val="0"/>
                        </a:spcAft>
                        <a:buClr>
                          <a:schemeClr val="dk1"/>
                        </a:buClr>
                        <a:buSzPts val="1600"/>
                        <a:buFont typeface="Times New Roman"/>
                        <a:buNone/>
                      </a:pPr>
                      <a:r>
                        <a:rPr lang="en-US" sz="1600" u="none" cap="none" strike="noStrike">
                          <a:latin typeface="Times New Roman"/>
                          <a:ea typeface="Times New Roman"/>
                          <a:cs typeface="Times New Roman"/>
                          <a:sym typeface="Times New Roman"/>
                        </a:rPr>
                        <a:t>4</a:t>
                      </a:r>
                      <a:endParaRPr/>
                    </a:p>
                  </a:txBody>
                  <a:tcPr marT="13025" marB="13025" marR="26050" marL="26050" anchor="ctr"/>
                </a:tc>
                <a:tc>
                  <a:txBody>
                    <a:bodyPr/>
                    <a:lstStyle/>
                    <a:p>
                      <a:pPr indent="0" lvl="0" marL="0" marR="0" rtl="0" algn="l">
                        <a:spcBef>
                          <a:spcPts val="0"/>
                        </a:spcBef>
                        <a:spcAft>
                          <a:spcPts val="0"/>
                        </a:spcAft>
                        <a:buClr>
                          <a:schemeClr val="dk1"/>
                        </a:buClr>
                        <a:buSzPts val="1600"/>
                        <a:buFont typeface="Times New Roman"/>
                        <a:buNone/>
                      </a:pPr>
                      <a:r>
                        <a:rPr lang="en-US" sz="1600" u="none" cap="none" strike="noStrike">
                          <a:latin typeface="Times New Roman"/>
                          <a:ea typeface="Times New Roman"/>
                          <a:cs typeface="Times New Roman"/>
                          <a:sym typeface="Times New Roman"/>
                        </a:rPr>
                        <a:t>R. Kumar et al. (2023)</a:t>
                      </a:r>
                      <a:endParaRPr/>
                    </a:p>
                  </a:txBody>
                  <a:tcPr marT="13025" marB="13025" marR="26050" marL="26050" anchor="ctr"/>
                </a:tc>
                <a:tc>
                  <a:txBody>
                    <a:bodyPr/>
                    <a:lstStyle/>
                    <a:p>
                      <a:pPr indent="0" lvl="0" marL="0" marR="0" rtl="0" algn="l">
                        <a:spcBef>
                          <a:spcPts val="0"/>
                        </a:spcBef>
                        <a:spcAft>
                          <a:spcPts val="0"/>
                        </a:spcAft>
                        <a:buClr>
                          <a:schemeClr val="dk1"/>
                        </a:buClr>
                        <a:buSzPts val="1600"/>
                        <a:buFont typeface="Times New Roman"/>
                        <a:buNone/>
                      </a:pPr>
                      <a:r>
                        <a:rPr lang="en-US" sz="1600" u="none" cap="none" strike="noStrike">
                          <a:latin typeface="Times New Roman"/>
                          <a:ea typeface="Times New Roman"/>
                          <a:cs typeface="Times New Roman"/>
                          <a:sym typeface="Times New Roman"/>
                        </a:rPr>
                        <a:t>Disaster Management Dataset</a:t>
                      </a:r>
                      <a:endParaRPr/>
                    </a:p>
                  </a:txBody>
                  <a:tcPr marT="13025" marB="13025" marR="26050" marL="26050" anchor="ctr"/>
                </a:tc>
                <a:tc>
                  <a:txBody>
                    <a:bodyPr/>
                    <a:lstStyle/>
                    <a:p>
                      <a:pPr indent="0" lvl="0" marL="0" marR="0" rtl="0" algn="l">
                        <a:spcBef>
                          <a:spcPts val="0"/>
                        </a:spcBef>
                        <a:spcAft>
                          <a:spcPts val="0"/>
                        </a:spcAft>
                        <a:buClr>
                          <a:schemeClr val="dk1"/>
                        </a:buClr>
                        <a:buSzPts val="1600"/>
                        <a:buFont typeface="Times New Roman"/>
                        <a:buNone/>
                      </a:pPr>
                      <a:r>
                        <a:rPr lang="en-US" sz="1600" u="none" cap="none" strike="noStrike">
                          <a:latin typeface="Times New Roman"/>
                          <a:ea typeface="Times New Roman"/>
                          <a:cs typeface="Times New Roman"/>
                          <a:sym typeface="Times New Roman"/>
                        </a:rPr>
                        <a:t>CNN, LSTM</a:t>
                      </a:r>
                      <a:endParaRPr/>
                    </a:p>
                  </a:txBody>
                  <a:tcPr marT="13025" marB="13025" marR="26050" marL="26050" anchor="ctr"/>
                </a:tc>
                <a:tc>
                  <a:txBody>
                    <a:bodyPr/>
                    <a:lstStyle/>
                    <a:p>
                      <a:pPr indent="0" lvl="0" marL="0" marR="0" rtl="0" algn="l">
                        <a:spcBef>
                          <a:spcPts val="0"/>
                        </a:spcBef>
                        <a:spcAft>
                          <a:spcPts val="0"/>
                        </a:spcAft>
                        <a:buClr>
                          <a:schemeClr val="dk1"/>
                        </a:buClr>
                        <a:buSzPts val="1600"/>
                        <a:buFont typeface="Times New Roman"/>
                        <a:buNone/>
                      </a:pPr>
                      <a:r>
                        <a:rPr lang="en-US" sz="1600" u="none" cap="none" strike="noStrike">
                          <a:latin typeface="Times New Roman"/>
                          <a:ea typeface="Times New Roman"/>
                          <a:cs typeface="Times New Roman"/>
                          <a:sym typeface="Times New Roman"/>
                        </a:rPr>
                        <a:t>Spatio-temporal features</a:t>
                      </a:r>
                      <a:endParaRPr/>
                    </a:p>
                  </a:txBody>
                  <a:tcPr marT="13025" marB="13025" marR="26050" marL="26050" anchor="ctr"/>
                </a:tc>
                <a:tc>
                  <a:txBody>
                    <a:bodyPr/>
                    <a:lstStyle/>
                    <a:p>
                      <a:pPr indent="0" lvl="0" marL="0" marR="0" rtl="0" algn="l">
                        <a:spcBef>
                          <a:spcPts val="0"/>
                        </a:spcBef>
                        <a:spcAft>
                          <a:spcPts val="0"/>
                        </a:spcAft>
                        <a:buClr>
                          <a:schemeClr val="dk1"/>
                        </a:buClr>
                        <a:buSzPts val="1600"/>
                        <a:buFont typeface="Times New Roman"/>
                        <a:buNone/>
                      </a:pPr>
                      <a:r>
                        <a:rPr lang="en-US" sz="1600" u="none" cap="none" strike="noStrike">
                          <a:latin typeface="Times New Roman"/>
                          <a:ea typeface="Times New Roman"/>
                          <a:cs typeface="Times New Roman"/>
                          <a:sym typeface="Times New Roman"/>
                        </a:rPr>
                        <a:t>Deep learning models improved prediction accuracy of resource demand in emergencies</a:t>
                      </a:r>
                      <a:endParaRPr/>
                    </a:p>
                  </a:txBody>
                  <a:tcPr marT="13025" marB="13025" marR="26050" marL="26050" anchor="ctr"/>
                </a:tc>
                <a:tc>
                  <a:txBody>
                    <a:bodyPr/>
                    <a:lstStyle/>
                    <a:p>
                      <a:pPr indent="0" lvl="0" marL="0" marR="0" rtl="0" algn="l">
                        <a:spcBef>
                          <a:spcPts val="0"/>
                        </a:spcBef>
                        <a:spcAft>
                          <a:spcPts val="0"/>
                        </a:spcAft>
                        <a:buClr>
                          <a:schemeClr val="dk1"/>
                        </a:buClr>
                        <a:buSzPts val="1600"/>
                        <a:buFont typeface="Times New Roman"/>
                        <a:buNone/>
                      </a:pPr>
                      <a:r>
                        <a:rPr lang="en-US" sz="1600" u="none" cap="none" strike="noStrike">
                          <a:latin typeface="Times New Roman"/>
                          <a:ea typeface="Times New Roman"/>
                          <a:cs typeface="Times New Roman"/>
                          <a:sym typeface="Times New Roman"/>
                        </a:rPr>
                        <a:t>Limited real-time deployment</a:t>
                      </a:r>
                      <a:endParaRPr/>
                    </a:p>
                  </a:txBody>
                  <a:tcPr marT="13025" marB="13025" marR="26050" marL="26050" anchor="ct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7"/>
          <p:cNvSpPr txBox="1"/>
          <p:nvPr>
            <p:ph type="title"/>
          </p:nvPr>
        </p:nvSpPr>
        <p:spPr>
          <a:xfrm>
            <a:off x="3051673" y="355856"/>
            <a:ext cx="5412120" cy="8382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FF0000"/>
              </a:buClr>
              <a:buSzPts val="4400"/>
              <a:buFont typeface="Times New Roman"/>
              <a:buNone/>
            </a:pPr>
            <a:r>
              <a:rPr lang="en-US">
                <a:solidFill>
                  <a:srgbClr val="FF0000"/>
                </a:solidFill>
                <a:latin typeface="Times New Roman"/>
                <a:ea typeface="Times New Roman"/>
                <a:cs typeface="Times New Roman"/>
                <a:sym typeface="Times New Roman"/>
              </a:rPr>
              <a:t>Problem statement</a:t>
            </a:r>
            <a:endParaRPr>
              <a:solidFill>
                <a:srgbClr val="FF0000"/>
              </a:solidFill>
              <a:latin typeface="Times New Roman"/>
              <a:ea typeface="Times New Roman"/>
              <a:cs typeface="Times New Roman"/>
              <a:sym typeface="Times New Roman"/>
            </a:endParaRPr>
          </a:p>
        </p:txBody>
      </p:sp>
      <p:pic>
        <p:nvPicPr>
          <p:cNvPr id="141" name="Google Shape;141;p7"/>
          <p:cNvPicPr preferRelativeResize="0"/>
          <p:nvPr/>
        </p:nvPicPr>
        <p:blipFill rotWithShape="1">
          <a:blip r:embed="rId3">
            <a:alphaModFix/>
          </a:blip>
          <a:srcRect b="0" l="0" r="0" t="0"/>
          <a:stretch/>
        </p:blipFill>
        <p:spPr>
          <a:xfrm>
            <a:off x="357352" y="191643"/>
            <a:ext cx="1103582" cy="1342897"/>
          </a:xfrm>
          <a:prstGeom prst="rect">
            <a:avLst/>
          </a:prstGeom>
          <a:noFill/>
          <a:ln>
            <a:noFill/>
          </a:ln>
        </p:spPr>
      </p:pic>
      <p:pic>
        <p:nvPicPr>
          <p:cNvPr id="142" name="Google Shape;142;p7"/>
          <p:cNvPicPr preferRelativeResize="0"/>
          <p:nvPr/>
        </p:nvPicPr>
        <p:blipFill rotWithShape="1">
          <a:blip r:embed="rId4">
            <a:alphaModFix/>
          </a:blip>
          <a:srcRect b="0" l="0" r="0" t="0"/>
          <a:stretch/>
        </p:blipFill>
        <p:spPr>
          <a:xfrm>
            <a:off x="10514203" y="191643"/>
            <a:ext cx="1520062" cy="1342897"/>
          </a:xfrm>
          <a:prstGeom prst="rect">
            <a:avLst/>
          </a:prstGeom>
          <a:noFill/>
          <a:ln>
            <a:noFill/>
          </a:ln>
        </p:spPr>
      </p:pic>
      <p:sp>
        <p:nvSpPr>
          <p:cNvPr id="143" name="Google Shape;143;p7"/>
          <p:cNvSpPr/>
          <p:nvPr/>
        </p:nvSpPr>
        <p:spPr>
          <a:xfrm>
            <a:off x="1552711" y="3139016"/>
            <a:ext cx="530915" cy="579967"/>
          </a:xfrm>
          <a:prstGeom prst="rect">
            <a:avLst/>
          </a:prstGeom>
          <a:noFill/>
          <a:ln>
            <a:noFill/>
          </a:ln>
        </p:spPr>
        <p:txBody>
          <a:bodyPr anchorCtr="0" anchor="ctr" bIns="45700" lIns="91425" spcFirstLastPara="1" rIns="91425" wrap="square" tIns="45700">
            <a:spAutoFit/>
          </a:bodyPr>
          <a:lstStyle/>
          <a:p>
            <a:pPr indent="-190500" lvl="0" marL="342900" marR="0" rtl="0" algn="l">
              <a:lnSpc>
                <a:spcPct val="150000"/>
              </a:lnSpc>
              <a:spcBef>
                <a:spcPts val="0"/>
              </a:spcBef>
              <a:spcAft>
                <a:spcPts val="0"/>
              </a:spcAft>
              <a:buClr>
                <a:schemeClr val="dk1"/>
              </a:buClr>
              <a:buSzPts val="2400"/>
              <a:buFont typeface="Arial"/>
              <a:buNone/>
            </a:pPr>
            <a:r>
              <a:t/>
            </a:r>
            <a:endParaRPr i="0" sz="2400" u="none" cap="none" strike="noStrike">
              <a:solidFill>
                <a:schemeClr val="dk1"/>
              </a:solidFill>
              <a:latin typeface="Times New Roman"/>
              <a:ea typeface="Times New Roman"/>
              <a:cs typeface="Times New Roman"/>
              <a:sym typeface="Times New Roman"/>
            </a:endParaRPr>
          </a:p>
        </p:txBody>
      </p:sp>
      <p:sp>
        <p:nvSpPr>
          <p:cNvPr id="144" name="Google Shape;144;p7"/>
          <p:cNvSpPr/>
          <p:nvPr/>
        </p:nvSpPr>
        <p:spPr>
          <a:xfrm>
            <a:off x="625542" y="1855864"/>
            <a:ext cx="11356477" cy="3903954"/>
          </a:xfrm>
          <a:prstGeom prst="rect">
            <a:avLst/>
          </a:prstGeom>
          <a:noFill/>
          <a:ln>
            <a:noFill/>
          </a:ln>
        </p:spPr>
        <p:txBody>
          <a:bodyPr anchorCtr="0" anchor="ctr" bIns="45700" lIns="91425" spcFirstLastPara="1" rIns="91425" wrap="square" tIns="45700">
            <a:spAutoFit/>
          </a:bodyPr>
          <a:lstStyle/>
          <a:p>
            <a:pPr indent="-285750" lvl="0" marL="285750" marR="0" rtl="0" algn="l">
              <a:lnSpc>
                <a:spcPct val="150000"/>
              </a:lnSpc>
              <a:spcBef>
                <a:spcPts val="0"/>
              </a:spcBef>
              <a:spcAft>
                <a:spcPts val="0"/>
              </a:spcAft>
              <a:buClr>
                <a:schemeClr val="dk1"/>
              </a:buClr>
              <a:buSzPts val="2400"/>
              <a:buFont typeface="Arial"/>
              <a:buChar char="•"/>
            </a:pPr>
            <a:r>
              <a:rPr i="0" lang="en-US" sz="2400" u="none" cap="none" strike="noStrike">
                <a:solidFill>
                  <a:schemeClr val="dk1"/>
                </a:solidFill>
                <a:latin typeface="Times New Roman"/>
                <a:ea typeface="Times New Roman"/>
                <a:cs typeface="Times New Roman"/>
                <a:sym typeface="Times New Roman"/>
              </a:rPr>
              <a:t>Increasing number of emergencies and disasters require fast and efficient response systems. </a:t>
            </a:r>
            <a:endParaRPr/>
          </a:p>
          <a:p>
            <a:pPr indent="-285750" lvl="0" marL="285750" marR="0" rtl="0" algn="l">
              <a:lnSpc>
                <a:spcPct val="150000"/>
              </a:lnSpc>
              <a:spcBef>
                <a:spcPts val="0"/>
              </a:spcBef>
              <a:spcAft>
                <a:spcPts val="0"/>
              </a:spcAft>
              <a:buClr>
                <a:schemeClr val="dk1"/>
              </a:buClr>
              <a:buSzPts val="2400"/>
              <a:buFont typeface="Arial"/>
              <a:buChar char="•"/>
            </a:pPr>
            <a:r>
              <a:rPr i="0" lang="en-US" sz="2400" u="none" cap="none" strike="noStrike">
                <a:solidFill>
                  <a:schemeClr val="dk1"/>
                </a:solidFill>
                <a:latin typeface="Times New Roman"/>
                <a:ea typeface="Times New Roman"/>
                <a:cs typeface="Times New Roman"/>
                <a:sym typeface="Times New Roman"/>
              </a:rPr>
              <a:t>Delays in resource allocation can increase loss of life and property. </a:t>
            </a:r>
            <a:endParaRPr/>
          </a:p>
          <a:p>
            <a:pPr indent="-285750" lvl="0" marL="285750" marR="0" rtl="0" algn="l">
              <a:lnSpc>
                <a:spcPct val="150000"/>
              </a:lnSpc>
              <a:spcBef>
                <a:spcPts val="0"/>
              </a:spcBef>
              <a:spcAft>
                <a:spcPts val="0"/>
              </a:spcAft>
              <a:buClr>
                <a:schemeClr val="dk1"/>
              </a:buClr>
              <a:buSzPts val="2400"/>
              <a:buFont typeface="Arial"/>
              <a:buChar char="•"/>
            </a:pPr>
            <a:r>
              <a:rPr i="0" lang="en-US" sz="2400" u="none" cap="none" strike="noStrike">
                <a:solidFill>
                  <a:schemeClr val="dk1"/>
                </a:solidFill>
                <a:latin typeface="Times New Roman"/>
                <a:ea typeface="Times New Roman"/>
                <a:cs typeface="Times New Roman"/>
                <a:sym typeface="Times New Roman"/>
              </a:rPr>
              <a:t>Lack of real-time inventory monitoring leads to resource shortages and overstocking. </a:t>
            </a:r>
            <a:endParaRPr/>
          </a:p>
          <a:p>
            <a:pPr indent="-285750" lvl="0" marL="285750" marR="0" rtl="0" algn="l">
              <a:lnSpc>
                <a:spcPct val="150000"/>
              </a:lnSpc>
              <a:spcBef>
                <a:spcPts val="0"/>
              </a:spcBef>
              <a:spcAft>
                <a:spcPts val="0"/>
              </a:spcAft>
              <a:buClr>
                <a:schemeClr val="dk1"/>
              </a:buClr>
              <a:buSzPts val="2400"/>
              <a:buFont typeface="Arial"/>
              <a:buChar char="•"/>
            </a:pPr>
            <a:r>
              <a:rPr i="0" lang="en-US" sz="2400" u="none" cap="none" strike="noStrike">
                <a:solidFill>
                  <a:schemeClr val="dk1"/>
                </a:solidFill>
                <a:latin typeface="Times New Roman"/>
                <a:ea typeface="Times New Roman"/>
                <a:cs typeface="Times New Roman"/>
                <a:sym typeface="Times New Roman"/>
              </a:rPr>
              <a:t>Existing systems have poor coordination between emergency units and resource centers. </a:t>
            </a:r>
            <a:endParaRPr/>
          </a:p>
          <a:p>
            <a:pPr indent="-285750" lvl="0" marL="285750" marR="0" rtl="0" algn="l">
              <a:lnSpc>
                <a:spcPct val="150000"/>
              </a:lnSpc>
              <a:spcBef>
                <a:spcPts val="0"/>
              </a:spcBef>
              <a:spcAft>
                <a:spcPts val="0"/>
              </a:spcAft>
              <a:buClr>
                <a:schemeClr val="dk1"/>
              </a:buClr>
              <a:buSzPts val="2400"/>
              <a:buFont typeface="Arial"/>
              <a:buChar char="•"/>
            </a:pPr>
            <a:r>
              <a:rPr i="0" lang="en-US" sz="2400" u="none" cap="none" strike="noStrike">
                <a:solidFill>
                  <a:schemeClr val="dk1"/>
                </a:solidFill>
                <a:latin typeface="Times New Roman"/>
                <a:ea typeface="Times New Roman"/>
                <a:cs typeface="Times New Roman"/>
                <a:sym typeface="Times New Roman"/>
              </a:rPr>
              <a:t>Traffic conditions and travel delays affect emergency vehicle response time. </a:t>
            </a:r>
            <a:endParaRPr/>
          </a:p>
          <a:p>
            <a:pPr indent="-285750" lvl="0" marL="285750" marR="0" rtl="0" algn="l">
              <a:lnSpc>
                <a:spcPct val="150000"/>
              </a:lnSpc>
              <a:spcBef>
                <a:spcPts val="0"/>
              </a:spcBef>
              <a:spcAft>
                <a:spcPts val="0"/>
              </a:spcAft>
              <a:buClr>
                <a:schemeClr val="dk1"/>
              </a:buClr>
              <a:buSzPts val="2400"/>
              <a:buFont typeface="Arial"/>
              <a:buChar char="•"/>
            </a:pPr>
            <a:r>
              <a:rPr i="0" lang="en-US" sz="2400" u="none" cap="none" strike="noStrike">
                <a:solidFill>
                  <a:schemeClr val="dk1"/>
                </a:solidFill>
                <a:latin typeface="Times New Roman"/>
                <a:ea typeface="Times New Roman"/>
                <a:cs typeface="Times New Roman"/>
                <a:sym typeface="Times New Roman"/>
              </a:rPr>
              <a:t>Traditional methods cannot accurately predict emergency resource demand in real-time.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sp>
        <p:nvSpPr>
          <p:cNvPr id="149" name="Google Shape;149;p8"/>
          <p:cNvSpPr txBox="1"/>
          <p:nvPr>
            <p:ph type="title"/>
          </p:nvPr>
        </p:nvSpPr>
        <p:spPr>
          <a:xfrm>
            <a:off x="1439584" y="162304"/>
            <a:ext cx="9081248" cy="1157474"/>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rgbClr val="FF0000"/>
              </a:buClr>
              <a:buSzPts val="4400"/>
              <a:buFont typeface="Times New Roman"/>
              <a:buNone/>
            </a:pPr>
            <a:r>
              <a:rPr lang="en-US">
                <a:solidFill>
                  <a:srgbClr val="FF0000"/>
                </a:solidFill>
                <a:latin typeface="Times New Roman"/>
                <a:ea typeface="Times New Roman"/>
                <a:cs typeface="Times New Roman"/>
                <a:sym typeface="Times New Roman"/>
              </a:rPr>
              <a:t>Architecture diagram</a:t>
            </a:r>
            <a:endParaRPr>
              <a:latin typeface="Times New Roman"/>
              <a:ea typeface="Times New Roman"/>
              <a:cs typeface="Times New Roman"/>
              <a:sym typeface="Times New Roman"/>
            </a:endParaRPr>
          </a:p>
        </p:txBody>
      </p:sp>
      <p:pic>
        <p:nvPicPr>
          <p:cNvPr descr="A logo with letters and numbers&#10;&#10;AI-generated content may be incorrect." id="150" name="Google Shape;150;p8"/>
          <p:cNvPicPr preferRelativeResize="0"/>
          <p:nvPr/>
        </p:nvPicPr>
        <p:blipFill rotWithShape="1">
          <a:blip r:embed="rId3">
            <a:alphaModFix/>
          </a:blip>
          <a:srcRect b="0" l="0" r="0" t="0"/>
          <a:stretch/>
        </p:blipFill>
        <p:spPr>
          <a:xfrm>
            <a:off x="348351" y="162304"/>
            <a:ext cx="1095375" cy="1343025"/>
          </a:xfrm>
          <a:prstGeom prst="rect">
            <a:avLst/>
          </a:prstGeom>
          <a:noFill/>
          <a:ln>
            <a:noFill/>
          </a:ln>
        </p:spPr>
      </p:pic>
      <p:pic>
        <p:nvPicPr>
          <p:cNvPr descr="A blue circular logo with a book and a caduceus&#10;&#10;AI-generated content may be incorrect." id="151" name="Google Shape;151;p8"/>
          <p:cNvPicPr preferRelativeResize="0"/>
          <p:nvPr/>
        </p:nvPicPr>
        <p:blipFill rotWithShape="1">
          <a:blip r:embed="rId4">
            <a:alphaModFix/>
          </a:blip>
          <a:srcRect b="0" l="0" r="0" t="0"/>
          <a:stretch/>
        </p:blipFill>
        <p:spPr>
          <a:xfrm>
            <a:off x="10516689" y="162304"/>
            <a:ext cx="1514475" cy="1343025"/>
          </a:xfrm>
          <a:prstGeom prst="rect">
            <a:avLst/>
          </a:prstGeom>
          <a:noFill/>
          <a:ln>
            <a:noFill/>
          </a:ln>
        </p:spPr>
      </p:pic>
      <p:pic>
        <p:nvPicPr>
          <p:cNvPr id="152" name="Google Shape;152;p8"/>
          <p:cNvPicPr preferRelativeResize="0"/>
          <p:nvPr/>
        </p:nvPicPr>
        <p:blipFill rotWithShape="1">
          <a:blip r:embed="rId5">
            <a:alphaModFix/>
          </a:blip>
          <a:srcRect b="2367" l="701" r="1094" t="14297"/>
          <a:stretch/>
        </p:blipFill>
        <p:spPr>
          <a:xfrm>
            <a:off x="342986" y="1505329"/>
            <a:ext cx="11274444" cy="5076216"/>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pic>
        <p:nvPicPr>
          <p:cNvPr id="157" name="Google Shape;157;p9"/>
          <p:cNvPicPr preferRelativeResize="0"/>
          <p:nvPr/>
        </p:nvPicPr>
        <p:blipFill rotWithShape="1">
          <a:blip r:embed="rId3">
            <a:alphaModFix/>
          </a:blip>
          <a:srcRect b="0" l="0" r="0" t="0"/>
          <a:stretch/>
        </p:blipFill>
        <p:spPr>
          <a:xfrm>
            <a:off x="10516689" y="162304"/>
            <a:ext cx="1514475" cy="1343025"/>
          </a:xfrm>
          <a:prstGeom prst="rect">
            <a:avLst/>
          </a:prstGeom>
          <a:noFill/>
          <a:ln>
            <a:noFill/>
          </a:ln>
        </p:spPr>
      </p:pic>
      <p:pic>
        <p:nvPicPr>
          <p:cNvPr id="158" name="Google Shape;158;p9"/>
          <p:cNvPicPr preferRelativeResize="0"/>
          <p:nvPr/>
        </p:nvPicPr>
        <p:blipFill rotWithShape="1">
          <a:blip r:embed="rId4">
            <a:alphaModFix/>
          </a:blip>
          <a:srcRect b="0" l="0" r="0" t="0"/>
          <a:stretch/>
        </p:blipFill>
        <p:spPr>
          <a:xfrm>
            <a:off x="348352" y="162303"/>
            <a:ext cx="1095375" cy="1343025"/>
          </a:xfrm>
          <a:prstGeom prst="rect">
            <a:avLst/>
          </a:prstGeom>
          <a:noFill/>
          <a:ln>
            <a:noFill/>
          </a:ln>
        </p:spPr>
      </p:pic>
      <p:sp>
        <p:nvSpPr>
          <p:cNvPr id="159" name="Google Shape;159;p9"/>
          <p:cNvSpPr txBox="1"/>
          <p:nvPr/>
        </p:nvSpPr>
        <p:spPr>
          <a:xfrm>
            <a:off x="1443727" y="305875"/>
            <a:ext cx="9072962" cy="769441"/>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lang="en-US" sz="4400">
                <a:solidFill>
                  <a:srgbClr val="FF0000"/>
                </a:solidFill>
                <a:latin typeface="Times New Roman"/>
                <a:ea typeface="Times New Roman"/>
                <a:cs typeface="Times New Roman"/>
                <a:sym typeface="Times New Roman"/>
              </a:rPr>
              <a:t>Algorithms Used</a:t>
            </a:r>
            <a:endParaRPr sz="4400">
              <a:solidFill>
                <a:srgbClr val="FF0000"/>
              </a:solidFill>
              <a:latin typeface="Times New Roman"/>
              <a:ea typeface="Times New Roman"/>
              <a:cs typeface="Times New Roman"/>
              <a:sym typeface="Times New Roman"/>
            </a:endParaRPr>
          </a:p>
        </p:txBody>
      </p:sp>
      <p:sp>
        <p:nvSpPr>
          <p:cNvPr id="160" name="Google Shape;160;p9"/>
          <p:cNvSpPr/>
          <p:nvPr/>
        </p:nvSpPr>
        <p:spPr>
          <a:xfrm>
            <a:off x="1153885" y="1898749"/>
            <a:ext cx="10330543" cy="4154984"/>
          </a:xfrm>
          <a:prstGeom prst="rect">
            <a:avLst/>
          </a:prstGeom>
          <a:noFill/>
          <a:ln>
            <a:noFill/>
          </a:ln>
        </p:spPr>
        <p:txBody>
          <a:bodyPr anchorCtr="0" anchor="ctr" bIns="45700" lIns="91425" spcFirstLastPara="1" rIns="91425" wrap="square" tIns="45700">
            <a:spAutoFit/>
          </a:bodyPr>
          <a:lstStyle/>
          <a:p>
            <a:pPr indent="-342900" lvl="0" marL="342900" marR="0" rtl="0" algn="just">
              <a:spcBef>
                <a:spcPts val="0"/>
              </a:spcBef>
              <a:spcAft>
                <a:spcPts val="0"/>
              </a:spcAft>
              <a:buClr>
                <a:schemeClr val="dk1"/>
              </a:buClr>
              <a:buSzPts val="2400"/>
              <a:buFont typeface="Noto Sans Symbols"/>
              <a:buChar char="⮚"/>
            </a:pPr>
            <a:r>
              <a:rPr b="1" i="0" lang="en-US" sz="2400" u="sng" cap="none" strike="noStrike">
                <a:solidFill>
                  <a:schemeClr val="dk1"/>
                </a:solidFill>
                <a:latin typeface="Times New Roman"/>
                <a:ea typeface="Times New Roman"/>
                <a:cs typeface="Times New Roman"/>
                <a:sym typeface="Times New Roman"/>
              </a:rPr>
              <a:t>Long short term memory(LSTM) </a:t>
            </a:r>
            <a:r>
              <a:rPr b="1" lang="en-US" sz="2400">
                <a:solidFill>
                  <a:schemeClr val="dk1"/>
                </a:solidFill>
                <a:latin typeface="Times New Roman"/>
                <a:ea typeface="Times New Roman"/>
                <a:cs typeface="Times New Roman"/>
                <a:sym typeface="Times New Roman"/>
              </a:rPr>
              <a:t>:</a:t>
            </a:r>
            <a:endParaRPr sz="2400">
              <a:solidFill>
                <a:schemeClr val="dk1"/>
              </a:solidFill>
              <a:latin typeface="Times New Roman"/>
              <a:ea typeface="Times New Roman"/>
              <a:cs typeface="Times New Roman"/>
              <a:sym typeface="Times New Roman"/>
            </a:endParaRPr>
          </a:p>
          <a:p>
            <a:pPr indent="-342900" lvl="0" marL="342900" marR="0" rtl="0" algn="l">
              <a:spcBef>
                <a:spcPts val="0"/>
              </a:spcBef>
              <a:spcAft>
                <a:spcPts val="0"/>
              </a:spcAft>
              <a:buClr>
                <a:schemeClr val="dk1"/>
              </a:buClr>
              <a:buSzPts val="2400"/>
              <a:buFont typeface="Arial"/>
              <a:buChar char="•"/>
            </a:pPr>
            <a:r>
              <a:rPr lang="en-US" sz="2400">
                <a:solidFill>
                  <a:schemeClr val="dk1"/>
                </a:solidFill>
                <a:latin typeface="Times New Roman"/>
                <a:ea typeface="Times New Roman"/>
                <a:cs typeface="Times New Roman"/>
                <a:sym typeface="Times New Roman"/>
              </a:rPr>
              <a:t>A type of recurrent neural network designed for time-series data analysis.</a:t>
            </a:r>
            <a:endParaRPr/>
          </a:p>
          <a:p>
            <a:pPr indent="-342900" lvl="0" marL="342900" marR="0" rtl="0" algn="l">
              <a:spcBef>
                <a:spcPts val="0"/>
              </a:spcBef>
              <a:spcAft>
                <a:spcPts val="0"/>
              </a:spcAft>
              <a:buClr>
                <a:schemeClr val="dk1"/>
              </a:buClr>
              <a:buSzPts val="2400"/>
              <a:buFont typeface="Arial"/>
              <a:buChar char="•"/>
            </a:pPr>
            <a:r>
              <a:rPr lang="en-US" sz="2400">
                <a:solidFill>
                  <a:schemeClr val="dk1"/>
                </a:solidFill>
                <a:latin typeface="Times New Roman"/>
                <a:ea typeface="Times New Roman"/>
                <a:cs typeface="Times New Roman"/>
                <a:sym typeface="Times New Roman"/>
              </a:rPr>
              <a:t>Captures long-term dependencies using memory cells and gates.</a:t>
            </a:r>
            <a:endParaRPr/>
          </a:p>
          <a:p>
            <a:pPr indent="-342900" lvl="0" marL="342900" marR="0" rtl="0" algn="l">
              <a:spcBef>
                <a:spcPts val="0"/>
              </a:spcBef>
              <a:spcAft>
                <a:spcPts val="0"/>
              </a:spcAft>
              <a:buClr>
                <a:schemeClr val="dk1"/>
              </a:buClr>
              <a:buSzPts val="2400"/>
              <a:buFont typeface="Arial"/>
              <a:buChar char="•"/>
            </a:pPr>
            <a:r>
              <a:rPr lang="en-US" sz="2400">
                <a:solidFill>
                  <a:schemeClr val="dk1"/>
                </a:solidFill>
                <a:latin typeface="Times New Roman"/>
                <a:ea typeface="Times New Roman"/>
                <a:cs typeface="Times New Roman"/>
                <a:sym typeface="Times New Roman"/>
              </a:rPr>
              <a:t>Handles sequential data like historical emergency records.</a:t>
            </a:r>
            <a:endParaRPr/>
          </a:p>
          <a:p>
            <a:pPr indent="-342900" lvl="0" marL="342900" marR="0" rtl="0" algn="l">
              <a:spcBef>
                <a:spcPts val="0"/>
              </a:spcBef>
              <a:spcAft>
                <a:spcPts val="0"/>
              </a:spcAft>
              <a:buClr>
                <a:schemeClr val="dk1"/>
              </a:buClr>
              <a:buSzPts val="2400"/>
              <a:buFont typeface="Arial"/>
              <a:buChar char="•"/>
            </a:pPr>
            <a:r>
              <a:rPr lang="en-US" sz="2400">
                <a:solidFill>
                  <a:schemeClr val="dk1"/>
                </a:solidFill>
                <a:latin typeface="Times New Roman"/>
                <a:ea typeface="Times New Roman"/>
                <a:cs typeface="Times New Roman"/>
                <a:sym typeface="Times New Roman"/>
              </a:rPr>
              <a:t>Used to predict resource demand and emergency severity.</a:t>
            </a:r>
            <a:endParaRPr/>
          </a:p>
          <a:p>
            <a:pPr indent="-190500" lvl="0" marL="342900" marR="0" rtl="0" algn="l">
              <a:spcBef>
                <a:spcPts val="0"/>
              </a:spcBef>
              <a:spcAft>
                <a:spcPts val="0"/>
              </a:spcAft>
              <a:buClr>
                <a:schemeClr val="dk1"/>
              </a:buClr>
              <a:buSzPts val="2400"/>
              <a:buFont typeface="Arial"/>
              <a:buNone/>
            </a:pPr>
            <a:r>
              <a:t/>
            </a:r>
            <a:endParaRPr i="0" sz="2400" u="none" cap="none" strike="noStrike">
              <a:solidFill>
                <a:schemeClr val="dk1"/>
              </a:solidFill>
              <a:latin typeface="Times New Roman"/>
              <a:ea typeface="Times New Roman"/>
              <a:cs typeface="Times New Roman"/>
              <a:sym typeface="Times New Roman"/>
            </a:endParaRPr>
          </a:p>
          <a:p>
            <a:pPr indent="-342900" lvl="0" marL="342900" marR="0" rtl="0" algn="just">
              <a:spcBef>
                <a:spcPts val="0"/>
              </a:spcBef>
              <a:spcAft>
                <a:spcPts val="0"/>
              </a:spcAft>
              <a:buClr>
                <a:schemeClr val="dk1"/>
              </a:buClr>
              <a:buSzPts val="2400"/>
              <a:buFont typeface="Noto Sans Symbols"/>
              <a:buChar char="⮚"/>
            </a:pPr>
            <a:r>
              <a:rPr b="1" lang="en-US" sz="2400" u="sng">
                <a:solidFill>
                  <a:schemeClr val="dk1"/>
                </a:solidFill>
                <a:latin typeface="Times New Roman"/>
                <a:ea typeface="Times New Roman"/>
                <a:cs typeface="Times New Roman"/>
                <a:sym typeface="Times New Roman"/>
              </a:rPr>
              <a:t>Gated Recurrent Unit</a:t>
            </a:r>
            <a:r>
              <a:rPr b="1" i="0" lang="en-US" sz="2400" u="sng" cap="none" strike="noStrike">
                <a:solidFill>
                  <a:schemeClr val="dk1"/>
                </a:solidFill>
                <a:latin typeface="Times New Roman"/>
                <a:ea typeface="Times New Roman"/>
                <a:cs typeface="Times New Roman"/>
                <a:sym typeface="Times New Roman"/>
              </a:rPr>
              <a:t> (</a:t>
            </a:r>
            <a:r>
              <a:rPr b="1" lang="en-US" sz="2400" u="sng">
                <a:solidFill>
                  <a:schemeClr val="dk1"/>
                </a:solidFill>
                <a:latin typeface="Times New Roman"/>
                <a:ea typeface="Times New Roman"/>
                <a:cs typeface="Times New Roman"/>
                <a:sym typeface="Times New Roman"/>
              </a:rPr>
              <a:t>GRU</a:t>
            </a:r>
            <a:r>
              <a:rPr b="1" i="0" lang="en-US" sz="2400" u="sng" cap="none" strike="noStrike">
                <a:solidFill>
                  <a:schemeClr val="dk1"/>
                </a:solidFill>
                <a:latin typeface="Times New Roman"/>
                <a:ea typeface="Times New Roman"/>
                <a:cs typeface="Times New Roman"/>
                <a:sym typeface="Times New Roman"/>
              </a:rPr>
              <a:t>)</a:t>
            </a:r>
            <a:r>
              <a:rPr b="1" i="0" lang="en-US" sz="2400" u="none" cap="none" strike="noStrike">
                <a:solidFill>
                  <a:schemeClr val="dk1"/>
                </a:solidFill>
                <a:latin typeface="Times New Roman"/>
                <a:ea typeface="Times New Roman"/>
                <a:cs typeface="Times New Roman"/>
                <a:sym typeface="Times New Roman"/>
              </a:rPr>
              <a:t> </a:t>
            </a:r>
            <a:r>
              <a:rPr b="1" lang="en-US" sz="2400">
                <a:solidFill>
                  <a:schemeClr val="dk1"/>
                </a:solidFill>
                <a:latin typeface="Times New Roman"/>
                <a:ea typeface="Times New Roman"/>
                <a:cs typeface="Times New Roman"/>
                <a:sym typeface="Times New Roman"/>
              </a:rPr>
              <a:t>:</a:t>
            </a:r>
            <a:endParaRPr i="0" sz="2400" u="none" cap="none" strike="noStrike">
              <a:solidFill>
                <a:schemeClr val="dk1"/>
              </a:solidFill>
              <a:latin typeface="Times New Roman"/>
              <a:ea typeface="Times New Roman"/>
              <a:cs typeface="Times New Roman"/>
              <a:sym typeface="Times New Roman"/>
            </a:endParaRPr>
          </a:p>
          <a:p>
            <a:pPr indent="-342900" lvl="0" marL="342900" marR="0" rtl="0" algn="l">
              <a:spcBef>
                <a:spcPts val="0"/>
              </a:spcBef>
              <a:spcAft>
                <a:spcPts val="0"/>
              </a:spcAft>
              <a:buClr>
                <a:schemeClr val="dk1"/>
              </a:buClr>
              <a:buSzPts val="2400"/>
              <a:buFont typeface="Arial"/>
              <a:buChar char="•"/>
            </a:pPr>
            <a:r>
              <a:rPr lang="en-US" sz="2400">
                <a:solidFill>
                  <a:schemeClr val="dk1"/>
                </a:solidFill>
                <a:latin typeface="Times New Roman"/>
                <a:ea typeface="Times New Roman"/>
                <a:cs typeface="Times New Roman"/>
                <a:sym typeface="Times New Roman"/>
              </a:rPr>
              <a:t>A simplified version of LSTM with fewer parameters and faster computation.</a:t>
            </a:r>
            <a:endParaRPr/>
          </a:p>
          <a:p>
            <a:pPr indent="-342900" lvl="0" marL="342900" marR="0" rtl="0" algn="l">
              <a:spcBef>
                <a:spcPts val="0"/>
              </a:spcBef>
              <a:spcAft>
                <a:spcPts val="0"/>
              </a:spcAft>
              <a:buClr>
                <a:schemeClr val="dk1"/>
              </a:buClr>
              <a:buSzPts val="2400"/>
              <a:buFont typeface="Arial"/>
              <a:buChar char="•"/>
            </a:pPr>
            <a:r>
              <a:rPr lang="en-US" sz="2400">
                <a:solidFill>
                  <a:schemeClr val="dk1"/>
                </a:solidFill>
                <a:latin typeface="Times New Roman"/>
                <a:ea typeface="Times New Roman"/>
                <a:cs typeface="Times New Roman"/>
                <a:sym typeface="Times New Roman"/>
              </a:rPr>
              <a:t>Efficient in processing real-time sequential data.</a:t>
            </a:r>
            <a:endParaRPr/>
          </a:p>
          <a:p>
            <a:pPr indent="-342900" lvl="0" marL="342900" marR="0" rtl="0" algn="l">
              <a:spcBef>
                <a:spcPts val="0"/>
              </a:spcBef>
              <a:spcAft>
                <a:spcPts val="0"/>
              </a:spcAft>
              <a:buClr>
                <a:schemeClr val="dk1"/>
              </a:buClr>
              <a:buSzPts val="2400"/>
              <a:buFont typeface="Arial"/>
              <a:buChar char="•"/>
            </a:pPr>
            <a:r>
              <a:rPr lang="en-US" sz="2400">
                <a:solidFill>
                  <a:schemeClr val="dk1"/>
                </a:solidFill>
                <a:latin typeface="Times New Roman"/>
                <a:ea typeface="Times New Roman"/>
                <a:cs typeface="Times New Roman"/>
                <a:sym typeface="Times New Roman"/>
              </a:rPr>
              <a:t>Captures important patterns using update and reset gates.</a:t>
            </a:r>
            <a:endParaRPr/>
          </a:p>
          <a:p>
            <a:pPr indent="-342900" lvl="0" marL="342900" marR="0" rtl="0" algn="l">
              <a:spcBef>
                <a:spcPts val="0"/>
              </a:spcBef>
              <a:spcAft>
                <a:spcPts val="0"/>
              </a:spcAft>
              <a:buClr>
                <a:schemeClr val="dk1"/>
              </a:buClr>
              <a:buSzPts val="2400"/>
              <a:buFont typeface="Arial"/>
              <a:buChar char="•"/>
            </a:pPr>
            <a:r>
              <a:rPr lang="en-US" sz="2400">
                <a:solidFill>
                  <a:schemeClr val="dk1"/>
                </a:solidFill>
                <a:latin typeface="Times New Roman"/>
                <a:ea typeface="Times New Roman"/>
                <a:cs typeface="Times New Roman"/>
                <a:sym typeface="Times New Roman"/>
              </a:rPr>
              <a:t>Used to predict vehicle travel time (ETA) and response delays.</a:t>
            </a:r>
            <a:endParaRPr sz="2400">
              <a:solidFill>
                <a:schemeClr val="dk1"/>
              </a:solidFill>
              <a:latin typeface="Times New Roman"/>
              <a:ea typeface="Times New Roman"/>
              <a:cs typeface="Times New Roman"/>
              <a:sym typeface="Times New Roman"/>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10"/>
          <p:cNvSpPr txBox="1"/>
          <p:nvPr>
            <p:ph type="ctrTitle"/>
          </p:nvPr>
        </p:nvSpPr>
        <p:spPr>
          <a:xfrm>
            <a:off x="1255400" y="141514"/>
            <a:ext cx="9681200" cy="1393372"/>
          </a:xfrm>
          <a:prstGeom prst="rect">
            <a:avLst/>
          </a:prstGeom>
          <a:noFill/>
          <a:ln>
            <a:noFill/>
          </a:ln>
        </p:spPr>
        <p:txBody>
          <a:bodyPr anchorCtr="0" anchor="b" bIns="121900" lIns="121900" spcFirstLastPara="1" rIns="121900" wrap="square" tIns="121900">
            <a:noAutofit/>
          </a:bodyPr>
          <a:lstStyle/>
          <a:p>
            <a:pPr indent="0" lvl="0" marL="0" rtl="0" algn="ctr">
              <a:lnSpc>
                <a:spcPct val="90000"/>
              </a:lnSpc>
              <a:spcBef>
                <a:spcPts val="0"/>
              </a:spcBef>
              <a:spcAft>
                <a:spcPts val="0"/>
              </a:spcAft>
              <a:buClr>
                <a:srgbClr val="FF0000"/>
              </a:buClr>
              <a:buSzPts val="4000"/>
              <a:buFont typeface="Times New Roman"/>
              <a:buNone/>
            </a:pPr>
            <a:r>
              <a:rPr lang="en-US" sz="4000">
                <a:solidFill>
                  <a:srgbClr val="FF0000"/>
                </a:solidFill>
                <a:latin typeface="Times New Roman"/>
                <a:ea typeface="Times New Roman"/>
                <a:cs typeface="Times New Roman"/>
                <a:sym typeface="Times New Roman"/>
              </a:rPr>
              <a:t>Module 1:Emergency Request &amp; Resource Demand</a:t>
            </a:r>
            <a:endParaRPr sz="4000">
              <a:solidFill>
                <a:srgbClr val="FF0000"/>
              </a:solidFill>
              <a:latin typeface="Times New Roman"/>
              <a:ea typeface="Times New Roman"/>
              <a:cs typeface="Times New Roman"/>
              <a:sym typeface="Times New Roman"/>
            </a:endParaRPr>
          </a:p>
        </p:txBody>
      </p:sp>
      <p:pic>
        <p:nvPicPr>
          <p:cNvPr id="166" name="Google Shape;166;p10"/>
          <p:cNvPicPr preferRelativeResize="0"/>
          <p:nvPr/>
        </p:nvPicPr>
        <p:blipFill rotWithShape="1">
          <a:blip r:embed="rId3">
            <a:alphaModFix/>
          </a:blip>
          <a:srcRect b="0" l="0" r="0" t="0"/>
          <a:stretch/>
        </p:blipFill>
        <p:spPr>
          <a:xfrm>
            <a:off x="10986467" y="141514"/>
            <a:ext cx="1026833" cy="1190867"/>
          </a:xfrm>
          <a:prstGeom prst="rect">
            <a:avLst/>
          </a:prstGeom>
          <a:noFill/>
          <a:ln>
            <a:noFill/>
          </a:ln>
          <a:effectLst>
            <a:outerShdw blurRad="57150" rotWithShape="0" algn="bl" dir="5400000" dist="19050">
              <a:srgbClr val="000000">
                <a:alpha val="50196"/>
              </a:srgbClr>
            </a:outerShdw>
          </a:effectLst>
        </p:spPr>
      </p:pic>
      <p:pic>
        <p:nvPicPr>
          <p:cNvPr id="167" name="Google Shape;167;p10"/>
          <p:cNvPicPr preferRelativeResize="0"/>
          <p:nvPr/>
        </p:nvPicPr>
        <p:blipFill rotWithShape="1">
          <a:blip r:embed="rId4">
            <a:alphaModFix/>
          </a:blip>
          <a:srcRect b="0" l="0" r="0" t="0"/>
          <a:stretch/>
        </p:blipFill>
        <p:spPr>
          <a:xfrm>
            <a:off x="178700" y="141514"/>
            <a:ext cx="1026833" cy="1190867"/>
          </a:xfrm>
          <a:prstGeom prst="rect">
            <a:avLst/>
          </a:prstGeom>
          <a:noFill/>
          <a:ln>
            <a:noFill/>
          </a:ln>
          <a:effectLst>
            <a:outerShdw blurRad="57150" rotWithShape="0" algn="bl" dir="5400000" dist="19050">
              <a:srgbClr val="000000">
                <a:alpha val="50196"/>
              </a:srgbClr>
            </a:outerShdw>
          </a:effectLst>
        </p:spPr>
      </p:pic>
      <p:sp>
        <p:nvSpPr>
          <p:cNvPr id="168" name="Google Shape;168;p10"/>
          <p:cNvSpPr/>
          <p:nvPr/>
        </p:nvSpPr>
        <p:spPr>
          <a:xfrm>
            <a:off x="495759" y="1645715"/>
            <a:ext cx="7568587" cy="4457952"/>
          </a:xfrm>
          <a:prstGeom prst="rect">
            <a:avLst/>
          </a:prstGeom>
          <a:noFill/>
          <a:ln>
            <a:noFill/>
          </a:ln>
        </p:spPr>
        <p:txBody>
          <a:bodyPr anchorCtr="0" anchor="ctr" bIns="45700" lIns="91425" spcFirstLastPara="1" rIns="91425" wrap="square" tIns="45700">
            <a:spAutoFit/>
          </a:bodyPr>
          <a:lstStyle/>
          <a:p>
            <a:pPr indent="-285750" lvl="0" marL="285750" marR="0" rtl="0" algn="l">
              <a:lnSpc>
                <a:spcPct val="150000"/>
              </a:lnSpc>
              <a:spcBef>
                <a:spcPts val="0"/>
              </a:spcBef>
              <a:spcAft>
                <a:spcPts val="0"/>
              </a:spcAft>
              <a:buClr>
                <a:schemeClr val="dk1"/>
              </a:buClr>
              <a:buSzPts val="2400"/>
              <a:buFont typeface="Arial"/>
              <a:buChar char="•"/>
            </a:pPr>
            <a:r>
              <a:rPr i="0" lang="en-US" sz="2400" u="none" cap="none" strike="noStrike">
                <a:solidFill>
                  <a:schemeClr val="dk1"/>
                </a:solidFill>
                <a:latin typeface="Times New Roman"/>
                <a:ea typeface="Times New Roman"/>
                <a:cs typeface="Times New Roman"/>
                <a:sym typeface="Times New Roman"/>
              </a:rPr>
              <a:t>Collect emergency details and real-time data </a:t>
            </a:r>
            <a:endParaRPr/>
          </a:p>
          <a:p>
            <a:pPr indent="-285750" lvl="0" marL="285750" marR="0" rtl="0" algn="l">
              <a:lnSpc>
                <a:spcPct val="150000"/>
              </a:lnSpc>
              <a:spcBef>
                <a:spcPts val="0"/>
              </a:spcBef>
              <a:spcAft>
                <a:spcPts val="0"/>
              </a:spcAft>
              <a:buClr>
                <a:schemeClr val="dk1"/>
              </a:buClr>
              <a:buSzPts val="2400"/>
              <a:buFont typeface="Arial"/>
              <a:buChar char="•"/>
            </a:pPr>
            <a:r>
              <a:rPr i="0" lang="en-US" sz="2400" u="none" cap="none" strike="noStrike">
                <a:solidFill>
                  <a:schemeClr val="dk1"/>
                </a:solidFill>
                <a:latin typeface="Times New Roman"/>
                <a:ea typeface="Times New Roman"/>
                <a:cs typeface="Times New Roman"/>
                <a:sym typeface="Times New Roman"/>
              </a:rPr>
              <a:t>Preprocess and validate input data </a:t>
            </a:r>
            <a:endParaRPr/>
          </a:p>
          <a:p>
            <a:pPr indent="-285750" lvl="0" marL="285750" marR="0" rtl="0" algn="l">
              <a:lnSpc>
                <a:spcPct val="150000"/>
              </a:lnSpc>
              <a:spcBef>
                <a:spcPts val="0"/>
              </a:spcBef>
              <a:spcAft>
                <a:spcPts val="0"/>
              </a:spcAft>
              <a:buClr>
                <a:schemeClr val="dk1"/>
              </a:buClr>
              <a:buSzPts val="2400"/>
              <a:buFont typeface="Arial"/>
              <a:buChar char="•"/>
            </a:pPr>
            <a:r>
              <a:rPr i="0" lang="en-US" sz="2400" u="none" cap="none" strike="noStrike">
                <a:solidFill>
                  <a:schemeClr val="dk1"/>
                </a:solidFill>
                <a:latin typeface="Times New Roman"/>
                <a:ea typeface="Times New Roman"/>
                <a:cs typeface="Times New Roman"/>
                <a:sym typeface="Times New Roman"/>
              </a:rPr>
              <a:t>Use LSTM algorithm for resource demand prediction. </a:t>
            </a:r>
            <a:endParaRPr/>
          </a:p>
          <a:p>
            <a:pPr indent="-285750" lvl="0" marL="285750" marR="0" rtl="0" algn="l">
              <a:lnSpc>
                <a:spcPct val="150000"/>
              </a:lnSpc>
              <a:spcBef>
                <a:spcPts val="0"/>
              </a:spcBef>
              <a:spcAft>
                <a:spcPts val="0"/>
              </a:spcAft>
              <a:buClr>
                <a:schemeClr val="dk1"/>
              </a:buClr>
              <a:buSzPts val="2400"/>
              <a:buFont typeface="Arial"/>
              <a:buChar char="•"/>
            </a:pPr>
            <a:r>
              <a:rPr i="0" lang="en-US" sz="2400" u="none" cap="none" strike="noStrike">
                <a:solidFill>
                  <a:schemeClr val="dk1"/>
                </a:solidFill>
                <a:latin typeface="Times New Roman"/>
                <a:ea typeface="Times New Roman"/>
                <a:cs typeface="Times New Roman"/>
                <a:sym typeface="Times New Roman"/>
              </a:rPr>
              <a:t>LSTM analyzes historical and sequential emergency data.</a:t>
            </a:r>
            <a:endParaRPr/>
          </a:p>
          <a:p>
            <a:pPr indent="-285750" lvl="0" marL="285750" marR="0" rtl="0" algn="l">
              <a:lnSpc>
                <a:spcPct val="150000"/>
              </a:lnSpc>
              <a:spcBef>
                <a:spcPts val="0"/>
              </a:spcBef>
              <a:spcAft>
                <a:spcPts val="0"/>
              </a:spcAft>
              <a:buClr>
                <a:schemeClr val="dk1"/>
              </a:buClr>
              <a:buSzPts val="2400"/>
              <a:buFont typeface="Arial"/>
              <a:buChar char="•"/>
            </a:pPr>
            <a:r>
              <a:rPr i="0" lang="en-US" sz="2400" u="none" cap="none" strike="noStrike">
                <a:solidFill>
                  <a:schemeClr val="dk1"/>
                </a:solidFill>
                <a:latin typeface="Times New Roman"/>
                <a:ea typeface="Times New Roman"/>
                <a:cs typeface="Times New Roman"/>
                <a:sym typeface="Times New Roman"/>
              </a:rPr>
              <a:t>Predict required resources based on emergency severity and patterns.</a:t>
            </a:r>
            <a:endParaRPr/>
          </a:p>
          <a:p>
            <a:pPr indent="-285750" lvl="0" marL="285750" marR="0" rtl="0" algn="l">
              <a:lnSpc>
                <a:spcPct val="150000"/>
              </a:lnSpc>
              <a:spcBef>
                <a:spcPts val="0"/>
              </a:spcBef>
              <a:spcAft>
                <a:spcPts val="0"/>
              </a:spcAft>
              <a:buClr>
                <a:schemeClr val="dk1"/>
              </a:buClr>
              <a:buSzPts val="2400"/>
              <a:buFont typeface="Arial"/>
              <a:buChar char="•"/>
            </a:pPr>
            <a:r>
              <a:rPr i="0" lang="en-US" sz="2400" u="none" cap="none" strike="noStrike">
                <a:solidFill>
                  <a:schemeClr val="dk1"/>
                </a:solidFill>
                <a:latin typeface="Times New Roman"/>
                <a:ea typeface="Times New Roman"/>
                <a:cs typeface="Times New Roman"/>
                <a:sym typeface="Times New Roman"/>
              </a:rPr>
              <a:t>Generate estimated demand for resource allocation and dispatch. </a:t>
            </a:r>
            <a:endParaRPr/>
          </a:p>
        </p:txBody>
      </p:sp>
      <p:pic>
        <p:nvPicPr>
          <p:cNvPr id="169" name="Google Shape;169;p10"/>
          <p:cNvPicPr preferRelativeResize="0"/>
          <p:nvPr/>
        </p:nvPicPr>
        <p:blipFill rotWithShape="1">
          <a:blip r:embed="rId5">
            <a:alphaModFix/>
          </a:blip>
          <a:srcRect b="2063" l="5170" r="5303" t="0"/>
          <a:stretch/>
        </p:blipFill>
        <p:spPr>
          <a:xfrm>
            <a:off x="8147265" y="1468784"/>
            <a:ext cx="3866035" cy="51816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11"/>
          <p:cNvSpPr txBox="1"/>
          <p:nvPr>
            <p:ph type="ctrTitle"/>
          </p:nvPr>
        </p:nvSpPr>
        <p:spPr>
          <a:xfrm>
            <a:off x="1066800" y="383161"/>
            <a:ext cx="9681200" cy="707572"/>
          </a:xfrm>
          <a:prstGeom prst="rect">
            <a:avLst/>
          </a:prstGeom>
          <a:noFill/>
          <a:ln>
            <a:noFill/>
          </a:ln>
        </p:spPr>
        <p:txBody>
          <a:bodyPr anchorCtr="0" anchor="b" bIns="121900" lIns="121900" spcFirstLastPara="1" rIns="121900" wrap="square" tIns="121900">
            <a:noAutofit/>
          </a:bodyPr>
          <a:lstStyle/>
          <a:p>
            <a:pPr indent="0" lvl="0" marL="0" rtl="0" algn="ctr">
              <a:lnSpc>
                <a:spcPct val="90000"/>
              </a:lnSpc>
              <a:spcBef>
                <a:spcPts val="0"/>
              </a:spcBef>
              <a:spcAft>
                <a:spcPts val="0"/>
              </a:spcAft>
              <a:buClr>
                <a:srgbClr val="FF0000"/>
              </a:buClr>
              <a:buSzPts val="4000"/>
              <a:buFont typeface="Times New Roman"/>
              <a:buNone/>
            </a:pPr>
            <a:r>
              <a:rPr lang="en-US" sz="4000">
                <a:solidFill>
                  <a:srgbClr val="FF0000"/>
                </a:solidFill>
                <a:latin typeface="Times New Roman"/>
                <a:ea typeface="Times New Roman"/>
                <a:cs typeface="Times New Roman"/>
                <a:sym typeface="Times New Roman"/>
              </a:rPr>
              <a:t>Output</a:t>
            </a:r>
            <a:endParaRPr sz="4000">
              <a:solidFill>
                <a:srgbClr val="FF0000"/>
              </a:solidFill>
              <a:latin typeface="Times New Roman"/>
              <a:ea typeface="Times New Roman"/>
              <a:cs typeface="Times New Roman"/>
              <a:sym typeface="Times New Roman"/>
            </a:endParaRPr>
          </a:p>
        </p:txBody>
      </p:sp>
      <p:pic>
        <p:nvPicPr>
          <p:cNvPr id="175" name="Google Shape;175;p11"/>
          <p:cNvPicPr preferRelativeResize="0"/>
          <p:nvPr/>
        </p:nvPicPr>
        <p:blipFill rotWithShape="1">
          <a:blip r:embed="rId3">
            <a:alphaModFix/>
          </a:blip>
          <a:srcRect b="0" l="0" r="0" t="0"/>
          <a:stretch/>
        </p:blipFill>
        <p:spPr>
          <a:xfrm>
            <a:off x="10986467" y="141514"/>
            <a:ext cx="1026833" cy="1190867"/>
          </a:xfrm>
          <a:prstGeom prst="rect">
            <a:avLst/>
          </a:prstGeom>
          <a:noFill/>
          <a:ln>
            <a:noFill/>
          </a:ln>
          <a:effectLst>
            <a:outerShdw blurRad="57150" rotWithShape="0" algn="bl" dir="5400000" dist="19050">
              <a:srgbClr val="000000">
                <a:alpha val="50196"/>
              </a:srgbClr>
            </a:outerShdw>
          </a:effectLst>
        </p:spPr>
      </p:pic>
      <p:pic>
        <p:nvPicPr>
          <p:cNvPr id="176" name="Google Shape;176;p11"/>
          <p:cNvPicPr preferRelativeResize="0"/>
          <p:nvPr/>
        </p:nvPicPr>
        <p:blipFill rotWithShape="1">
          <a:blip r:embed="rId4">
            <a:alphaModFix/>
          </a:blip>
          <a:srcRect b="0" l="0" r="0" t="0"/>
          <a:stretch/>
        </p:blipFill>
        <p:spPr>
          <a:xfrm>
            <a:off x="178700" y="141514"/>
            <a:ext cx="1026833" cy="1190867"/>
          </a:xfrm>
          <a:prstGeom prst="rect">
            <a:avLst/>
          </a:prstGeom>
          <a:noFill/>
          <a:ln>
            <a:noFill/>
          </a:ln>
          <a:effectLst>
            <a:outerShdw blurRad="57150" rotWithShape="0" algn="bl" dir="5400000" dist="19050">
              <a:srgbClr val="000000">
                <a:alpha val="50196"/>
              </a:srgbClr>
            </a:outerShdw>
          </a:effectLst>
        </p:spPr>
      </p:pic>
      <p:pic>
        <p:nvPicPr>
          <p:cNvPr id="177" name="Google Shape;177;p11"/>
          <p:cNvPicPr preferRelativeResize="0"/>
          <p:nvPr/>
        </p:nvPicPr>
        <p:blipFill rotWithShape="1">
          <a:blip r:embed="rId5">
            <a:alphaModFix/>
          </a:blip>
          <a:srcRect b="0" l="0" r="0" t="0"/>
          <a:stretch/>
        </p:blipFill>
        <p:spPr>
          <a:xfrm>
            <a:off x="555172" y="1574028"/>
            <a:ext cx="11049000" cy="5027038"/>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12"/>
          <p:cNvSpPr txBox="1"/>
          <p:nvPr>
            <p:ph type="ctrTitle"/>
          </p:nvPr>
        </p:nvSpPr>
        <p:spPr>
          <a:xfrm>
            <a:off x="1107401" y="324260"/>
            <a:ext cx="10035600" cy="804075"/>
          </a:xfrm>
          <a:prstGeom prst="rect">
            <a:avLst/>
          </a:prstGeom>
          <a:noFill/>
          <a:ln>
            <a:noFill/>
          </a:ln>
        </p:spPr>
        <p:txBody>
          <a:bodyPr anchorCtr="0" anchor="b" bIns="121900" lIns="121900" spcFirstLastPara="1" rIns="121900" wrap="square" tIns="121900">
            <a:noAutofit/>
          </a:bodyPr>
          <a:lstStyle/>
          <a:p>
            <a:pPr indent="0" lvl="0" marL="0" rtl="0" algn="ctr">
              <a:lnSpc>
                <a:spcPct val="90000"/>
              </a:lnSpc>
              <a:spcBef>
                <a:spcPts val="0"/>
              </a:spcBef>
              <a:spcAft>
                <a:spcPts val="0"/>
              </a:spcAft>
              <a:buClr>
                <a:srgbClr val="FF0000"/>
              </a:buClr>
              <a:buSzPts val="990"/>
              <a:buFont typeface="Times New Roman"/>
              <a:buNone/>
            </a:pPr>
            <a:r>
              <a:rPr lang="en-US" sz="4000">
                <a:solidFill>
                  <a:srgbClr val="FF0000"/>
                </a:solidFill>
                <a:latin typeface="Times New Roman"/>
                <a:ea typeface="Times New Roman"/>
                <a:cs typeface="Times New Roman"/>
                <a:sym typeface="Times New Roman"/>
              </a:rPr>
              <a:t>Module 2:Inventory Monitoring &amp; Availability</a:t>
            </a:r>
            <a:endParaRPr sz="4000">
              <a:solidFill>
                <a:srgbClr val="FF0000"/>
              </a:solidFill>
              <a:latin typeface="Times New Roman"/>
              <a:ea typeface="Times New Roman"/>
              <a:cs typeface="Times New Roman"/>
              <a:sym typeface="Times New Roman"/>
            </a:endParaRPr>
          </a:p>
        </p:txBody>
      </p:sp>
      <p:pic>
        <p:nvPicPr>
          <p:cNvPr id="183" name="Google Shape;183;p12"/>
          <p:cNvPicPr preferRelativeResize="0"/>
          <p:nvPr/>
        </p:nvPicPr>
        <p:blipFill rotWithShape="1">
          <a:blip r:embed="rId3">
            <a:alphaModFix/>
          </a:blip>
          <a:srcRect b="0" l="0" r="0" t="0"/>
          <a:stretch/>
        </p:blipFill>
        <p:spPr>
          <a:xfrm>
            <a:off x="11036334" y="117833"/>
            <a:ext cx="1026833" cy="1190867"/>
          </a:xfrm>
          <a:prstGeom prst="rect">
            <a:avLst/>
          </a:prstGeom>
          <a:noFill/>
          <a:ln>
            <a:noFill/>
          </a:ln>
          <a:effectLst>
            <a:outerShdw blurRad="57150" rotWithShape="0" algn="bl" dir="5400000" dist="19050">
              <a:srgbClr val="000000">
                <a:alpha val="50196"/>
              </a:srgbClr>
            </a:outerShdw>
          </a:effectLst>
        </p:spPr>
      </p:pic>
      <p:pic>
        <p:nvPicPr>
          <p:cNvPr id="184" name="Google Shape;184;p12"/>
          <p:cNvPicPr preferRelativeResize="0"/>
          <p:nvPr/>
        </p:nvPicPr>
        <p:blipFill rotWithShape="1">
          <a:blip r:embed="rId4">
            <a:alphaModFix/>
          </a:blip>
          <a:srcRect b="0" l="0" r="0" t="0"/>
          <a:stretch/>
        </p:blipFill>
        <p:spPr>
          <a:xfrm>
            <a:off x="80568" y="117833"/>
            <a:ext cx="1026833" cy="1190867"/>
          </a:xfrm>
          <a:prstGeom prst="rect">
            <a:avLst/>
          </a:prstGeom>
          <a:noFill/>
          <a:ln>
            <a:noFill/>
          </a:ln>
          <a:effectLst>
            <a:outerShdw blurRad="57150" rotWithShape="0" algn="bl" dir="5400000" dist="19050">
              <a:srgbClr val="000000">
                <a:alpha val="50196"/>
              </a:srgbClr>
            </a:outerShdw>
          </a:effectLst>
        </p:spPr>
      </p:pic>
      <p:sp>
        <p:nvSpPr>
          <p:cNvPr id="185" name="Google Shape;185;p12"/>
          <p:cNvSpPr/>
          <p:nvPr/>
        </p:nvSpPr>
        <p:spPr>
          <a:xfrm>
            <a:off x="420013" y="1900252"/>
            <a:ext cx="8009262" cy="3785652"/>
          </a:xfrm>
          <a:prstGeom prst="rect">
            <a:avLst/>
          </a:prstGeom>
          <a:noFill/>
          <a:ln>
            <a:noFill/>
          </a:ln>
        </p:spPr>
        <p:txBody>
          <a:bodyPr anchorCtr="0" anchor="ctr" bIns="45700" lIns="91425" spcFirstLastPara="1" rIns="91425" wrap="square" tIns="45700">
            <a:spAutoFit/>
          </a:bodyPr>
          <a:lstStyle/>
          <a:p>
            <a:pPr indent="-285750" lvl="0" marL="285750" marR="0" rtl="0" algn="l">
              <a:spcBef>
                <a:spcPts val="0"/>
              </a:spcBef>
              <a:spcAft>
                <a:spcPts val="0"/>
              </a:spcAft>
              <a:buClr>
                <a:schemeClr val="dk1"/>
              </a:buClr>
              <a:buSzPts val="2400"/>
              <a:buFont typeface="Arial"/>
              <a:buChar char="•"/>
            </a:pPr>
            <a:r>
              <a:rPr i="0" lang="en-US" sz="2400" u="none" cap="none" strike="noStrike">
                <a:solidFill>
                  <a:schemeClr val="dk1"/>
                </a:solidFill>
                <a:latin typeface="Times New Roman"/>
                <a:ea typeface="Times New Roman"/>
                <a:cs typeface="Times New Roman"/>
                <a:sym typeface="Times New Roman"/>
              </a:rPr>
              <a:t>Monitor real-time availability of emergency resources using IoT sensors and RFID devices.</a:t>
            </a:r>
            <a:endParaRPr/>
          </a:p>
          <a:p>
            <a:pPr indent="-285750" lvl="0" marL="285750" marR="0" rtl="0" algn="l">
              <a:spcBef>
                <a:spcPts val="0"/>
              </a:spcBef>
              <a:spcAft>
                <a:spcPts val="0"/>
              </a:spcAft>
              <a:buClr>
                <a:schemeClr val="dk1"/>
              </a:buClr>
              <a:buSzPts val="2400"/>
              <a:buFont typeface="Arial"/>
              <a:buChar char="•"/>
            </a:pPr>
            <a:r>
              <a:rPr i="0" lang="en-US" sz="2400" u="none" cap="none" strike="noStrike">
                <a:solidFill>
                  <a:schemeClr val="dk1"/>
                </a:solidFill>
                <a:latin typeface="Times New Roman"/>
                <a:ea typeface="Times New Roman"/>
                <a:cs typeface="Times New Roman"/>
                <a:sym typeface="Times New Roman"/>
              </a:rPr>
              <a:t>Track stock levels of medical supplies, rescue equipment, and emergency vehicles. </a:t>
            </a:r>
            <a:endParaRPr/>
          </a:p>
          <a:p>
            <a:pPr indent="-285750" lvl="0" marL="285750" marR="0" rtl="0" algn="l">
              <a:spcBef>
                <a:spcPts val="0"/>
              </a:spcBef>
              <a:spcAft>
                <a:spcPts val="0"/>
              </a:spcAft>
              <a:buClr>
                <a:schemeClr val="dk1"/>
              </a:buClr>
              <a:buSzPts val="2400"/>
              <a:buFont typeface="Arial"/>
              <a:buChar char="•"/>
            </a:pPr>
            <a:r>
              <a:rPr i="0" lang="en-US" sz="2400" u="none" cap="none" strike="noStrike">
                <a:solidFill>
                  <a:schemeClr val="dk1"/>
                </a:solidFill>
                <a:latin typeface="Times New Roman"/>
                <a:ea typeface="Times New Roman"/>
                <a:cs typeface="Times New Roman"/>
                <a:sym typeface="Times New Roman"/>
              </a:rPr>
              <a:t>Detect low stock, shortages, and unavailable resources automatically. </a:t>
            </a:r>
            <a:endParaRPr/>
          </a:p>
          <a:p>
            <a:pPr indent="-285750" lvl="0" marL="285750" marR="0" rtl="0" algn="l">
              <a:spcBef>
                <a:spcPts val="0"/>
              </a:spcBef>
              <a:spcAft>
                <a:spcPts val="0"/>
              </a:spcAft>
              <a:buClr>
                <a:schemeClr val="dk1"/>
              </a:buClr>
              <a:buSzPts val="2400"/>
              <a:buFont typeface="Arial"/>
              <a:buChar char="•"/>
            </a:pPr>
            <a:r>
              <a:rPr i="0" lang="en-US" sz="2400" u="none" cap="none" strike="noStrike">
                <a:solidFill>
                  <a:schemeClr val="dk1"/>
                </a:solidFill>
                <a:latin typeface="Times New Roman"/>
                <a:ea typeface="Times New Roman"/>
                <a:cs typeface="Times New Roman"/>
                <a:sym typeface="Times New Roman"/>
              </a:rPr>
              <a:t>Update inventory status continuously across multiple locations. </a:t>
            </a:r>
            <a:endParaRPr/>
          </a:p>
          <a:p>
            <a:pPr indent="-285750" lvl="0" marL="285750" marR="0" rtl="0" algn="l">
              <a:spcBef>
                <a:spcPts val="0"/>
              </a:spcBef>
              <a:spcAft>
                <a:spcPts val="0"/>
              </a:spcAft>
              <a:buClr>
                <a:schemeClr val="dk1"/>
              </a:buClr>
              <a:buSzPts val="2400"/>
              <a:buFont typeface="Arial"/>
              <a:buChar char="•"/>
            </a:pPr>
            <a:r>
              <a:rPr i="0" lang="en-US" sz="2400" u="none" cap="none" strike="noStrike">
                <a:solidFill>
                  <a:schemeClr val="dk1"/>
                </a:solidFill>
                <a:latin typeface="Times New Roman"/>
                <a:ea typeface="Times New Roman"/>
                <a:cs typeface="Times New Roman"/>
                <a:sym typeface="Times New Roman"/>
              </a:rPr>
              <a:t>Provide real-time inventory data for efficient resource allocation and dispatch decisions. </a:t>
            </a:r>
            <a:endParaRPr/>
          </a:p>
        </p:txBody>
      </p:sp>
      <p:pic>
        <p:nvPicPr>
          <p:cNvPr id="186" name="Google Shape;186;p12"/>
          <p:cNvPicPr preferRelativeResize="0"/>
          <p:nvPr/>
        </p:nvPicPr>
        <p:blipFill rotWithShape="1">
          <a:blip r:embed="rId5">
            <a:alphaModFix/>
          </a:blip>
          <a:srcRect b="0" l="6946" r="6875" t="0"/>
          <a:stretch/>
        </p:blipFill>
        <p:spPr>
          <a:xfrm>
            <a:off x="8429275" y="1308701"/>
            <a:ext cx="3633892" cy="5414784"/>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 name="Shape 190"/>
        <p:cNvGrpSpPr/>
        <p:nvPr/>
      </p:nvGrpSpPr>
      <p:grpSpPr>
        <a:xfrm>
          <a:off x="0" y="0"/>
          <a:ext cx="0" cy="0"/>
          <a:chOff x="0" y="0"/>
          <a:chExt cx="0" cy="0"/>
        </a:xfrm>
      </p:grpSpPr>
      <p:sp>
        <p:nvSpPr>
          <p:cNvPr id="191" name="Google Shape;191;p13"/>
          <p:cNvSpPr txBox="1"/>
          <p:nvPr>
            <p:ph type="ctrTitle"/>
          </p:nvPr>
        </p:nvSpPr>
        <p:spPr>
          <a:xfrm>
            <a:off x="1107401" y="324260"/>
            <a:ext cx="10035600" cy="804075"/>
          </a:xfrm>
          <a:prstGeom prst="rect">
            <a:avLst/>
          </a:prstGeom>
          <a:noFill/>
          <a:ln>
            <a:noFill/>
          </a:ln>
        </p:spPr>
        <p:txBody>
          <a:bodyPr anchorCtr="0" anchor="b" bIns="121900" lIns="121900" spcFirstLastPara="1" rIns="121900" wrap="square" tIns="121900">
            <a:noAutofit/>
          </a:bodyPr>
          <a:lstStyle/>
          <a:p>
            <a:pPr indent="0" lvl="0" marL="0" rtl="0" algn="ctr">
              <a:lnSpc>
                <a:spcPct val="90000"/>
              </a:lnSpc>
              <a:spcBef>
                <a:spcPts val="0"/>
              </a:spcBef>
              <a:spcAft>
                <a:spcPts val="0"/>
              </a:spcAft>
              <a:buClr>
                <a:srgbClr val="FF0000"/>
              </a:buClr>
              <a:buSzPts val="990"/>
              <a:buFont typeface="Times New Roman"/>
              <a:buNone/>
            </a:pPr>
            <a:r>
              <a:rPr lang="en-US" sz="4000">
                <a:solidFill>
                  <a:srgbClr val="FF0000"/>
                </a:solidFill>
                <a:latin typeface="Times New Roman"/>
                <a:ea typeface="Times New Roman"/>
                <a:cs typeface="Times New Roman"/>
                <a:sym typeface="Times New Roman"/>
              </a:rPr>
              <a:t>Output</a:t>
            </a:r>
            <a:endParaRPr sz="4000">
              <a:solidFill>
                <a:srgbClr val="FF0000"/>
              </a:solidFill>
              <a:latin typeface="Times New Roman"/>
              <a:ea typeface="Times New Roman"/>
              <a:cs typeface="Times New Roman"/>
              <a:sym typeface="Times New Roman"/>
            </a:endParaRPr>
          </a:p>
        </p:txBody>
      </p:sp>
      <p:pic>
        <p:nvPicPr>
          <p:cNvPr id="192" name="Google Shape;192;p13"/>
          <p:cNvPicPr preferRelativeResize="0"/>
          <p:nvPr/>
        </p:nvPicPr>
        <p:blipFill rotWithShape="1">
          <a:blip r:embed="rId3">
            <a:alphaModFix/>
          </a:blip>
          <a:srcRect b="0" l="0" r="0" t="0"/>
          <a:stretch/>
        </p:blipFill>
        <p:spPr>
          <a:xfrm>
            <a:off x="11036334" y="117833"/>
            <a:ext cx="1026833" cy="1190867"/>
          </a:xfrm>
          <a:prstGeom prst="rect">
            <a:avLst/>
          </a:prstGeom>
          <a:noFill/>
          <a:ln>
            <a:noFill/>
          </a:ln>
          <a:effectLst>
            <a:outerShdw blurRad="57150" rotWithShape="0" algn="bl" dir="5400000" dist="19050">
              <a:srgbClr val="000000">
                <a:alpha val="50196"/>
              </a:srgbClr>
            </a:outerShdw>
          </a:effectLst>
        </p:spPr>
      </p:pic>
      <p:pic>
        <p:nvPicPr>
          <p:cNvPr id="193" name="Google Shape;193;p13"/>
          <p:cNvPicPr preferRelativeResize="0"/>
          <p:nvPr/>
        </p:nvPicPr>
        <p:blipFill rotWithShape="1">
          <a:blip r:embed="rId4">
            <a:alphaModFix/>
          </a:blip>
          <a:srcRect b="0" l="0" r="0" t="0"/>
          <a:stretch/>
        </p:blipFill>
        <p:spPr>
          <a:xfrm>
            <a:off x="80568" y="117833"/>
            <a:ext cx="1026833" cy="1190867"/>
          </a:xfrm>
          <a:prstGeom prst="rect">
            <a:avLst/>
          </a:prstGeom>
          <a:noFill/>
          <a:ln>
            <a:noFill/>
          </a:ln>
          <a:effectLst>
            <a:outerShdw blurRad="57150" rotWithShape="0" algn="bl" dir="5400000" dist="19050">
              <a:srgbClr val="000000">
                <a:alpha val="50196"/>
              </a:srgbClr>
            </a:outerShdw>
          </a:effectLst>
        </p:spPr>
      </p:pic>
      <p:pic>
        <p:nvPicPr>
          <p:cNvPr id="194" name="Google Shape;194;p13"/>
          <p:cNvPicPr preferRelativeResize="0"/>
          <p:nvPr/>
        </p:nvPicPr>
        <p:blipFill rotWithShape="1">
          <a:blip r:embed="rId5">
            <a:alphaModFix/>
          </a:blip>
          <a:srcRect b="0" l="0" r="0" t="0"/>
          <a:stretch/>
        </p:blipFill>
        <p:spPr>
          <a:xfrm>
            <a:off x="446314" y="1515126"/>
            <a:ext cx="11103429" cy="4744159"/>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 name="Shape 198"/>
        <p:cNvGrpSpPr/>
        <p:nvPr/>
      </p:nvGrpSpPr>
      <p:grpSpPr>
        <a:xfrm>
          <a:off x="0" y="0"/>
          <a:ext cx="0" cy="0"/>
          <a:chOff x="0" y="0"/>
          <a:chExt cx="0" cy="0"/>
        </a:xfrm>
      </p:grpSpPr>
      <p:sp>
        <p:nvSpPr>
          <p:cNvPr id="199" name="Google Shape;199;p14"/>
          <p:cNvSpPr txBox="1"/>
          <p:nvPr>
            <p:ph type="ctrTitle"/>
          </p:nvPr>
        </p:nvSpPr>
        <p:spPr>
          <a:xfrm>
            <a:off x="1054068" y="329768"/>
            <a:ext cx="10035600" cy="793059"/>
          </a:xfrm>
          <a:prstGeom prst="rect">
            <a:avLst/>
          </a:prstGeom>
          <a:noFill/>
          <a:ln>
            <a:noFill/>
          </a:ln>
        </p:spPr>
        <p:txBody>
          <a:bodyPr anchorCtr="0" anchor="b" bIns="121900" lIns="121900" spcFirstLastPara="1" rIns="121900" wrap="square" tIns="121900">
            <a:noAutofit/>
          </a:bodyPr>
          <a:lstStyle/>
          <a:p>
            <a:pPr indent="0" lvl="0" marL="0" rtl="0" algn="ctr">
              <a:lnSpc>
                <a:spcPct val="90000"/>
              </a:lnSpc>
              <a:spcBef>
                <a:spcPts val="0"/>
              </a:spcBef>
              <a:spcAft>
                <a:spcPts val="0"/>
              </a:spcAft>
              <a:buClr>
                <a:srgbClr val="FF0000"/>
              </a:buClr>
              <a:buSzPts val="990"/>
              <a:buFont typeface="Times New Roman"/>
              <a:buNone/>
            </a:pPr>
            <a:r>
              <a:rPr lang="en-US" sz="4000">
                <a:solidFill>
                  <a:srgbClr val="FF0000"/>
                </a:solidFill>
                <a:latin typeface="Times New Roman"/>
                <a:ea typeface="Times New Roman"/>
                <a:cs typeface="Times New Roman"/>
                <a:sym typeface="Times New Roman"/>
              </a:rPr>
              <a:t>Module 3:Smart Allocation &amp; Dispatch</a:t>
            </a:r>
            <a:endParaRPr sz="4000">
              <a:solidFill>
                <a:srgbClr val="FF0000"/>
              </a:solidFill>
              <a:latin typeface="Times New Roman"/>
              <a:ea typeface="Times New Roman"/>
              <a:cs typeface="Times New Roman"/>
              <a:sym typeface="Times New Roman"/>
            </a:endParaRPr>
          </a:p>
        </p:txBody>
      </p:sp>
      <p:pic>
        <p:nvPicPr>
          <p:cNvPr id="200" name="Google Shape;200;p14"/>
          <p:cNvPicPr preferRelativeResize="0"/>
          <p:nvPr/>
        </p:nvPicPr>
        <p:blipFill rotWithShape="1">
          <a:blip r:embed="rId3">
            <a:alphaModFix/>
          </a:blip>
          <a:srcRect b="0" l="0" r="0" t="0"/>
          <a:stretch/>
        </p:blipFill>
        <p:spPr>
          <a:xfrm>
            <a:off x="11036334" y="117833"/>
            <a:ext cx="1026833" cy="1190867"/>
          </a:xfrm>
          <a:prstGeom prst="rect">
            <a:avLst/>
          </a:prstGeom>
          <a:noFill/>
          <a:ln>
            <a:noFill/>
          </a:ln>
          <a:effectLst>
            <a:outerShdw blurRad="57150" rotWithShape="0" algn="bl" dir="5400000" dist="19050">
              <a:srgbClr val="000000">
                <a:alpha val="50196"/>
              </a:srgbClr>
            </a:outerShdw>
          </a:effectLst>
        </p:spPr>
      </p:pic>
      <p:pic>
        <p:nvPicPr>
          <p:cNvPr id="201" name="Google Shape;201;p14"/>
          <p:cNvPicPr preferRelativeResize="0"/>
          <p:nvPr/>
        </p:nvPicPr>
        <p:blipFill rotWithShape="1">
          <a:blip r:embed="rId4">
            <a:alphaModFix/>
          </a:blip>
          <a:srcRect b="0" l="0" r="0" t="0"/>
          <a:stretch/>
        </p:blipFill>
        <p:spPr>
          <a:xfrm>
            <a:off x="80568" y="117833"/>
            <a:ext cx="1026833" cy="1190867"/>
          </a:xfrm>
          <a:prstGeom prst="rect">
            <a:avLst/>
          </a:prstGeom>
          <a:noFill/>
          <a:ln>
            <a:noFill/>
          </a:ln>
          <a:effectLst>
            <a:outerShdw blurRad="57150" rotWithShape="0" algn="bl" dir="5400000" dist="19050">
              <a:srgbClr val="000000">
                <a:alpha val="50196"/>
              </a:srgbClr>
            </a:outerShdw>
          </a:effectLst>
        </p:spPr>
      </p:pic>
      <p:sp>
        <p:nvSpPr>
          <p:cNvPr id="202" name="Google Shape;202;p14"/>
          <p:cNvSpPr/>
          <p:nvPr/>
        </p:nvSpPr>
        <p:spPr>
          <a:xfrm>
            <a:off x="263479" y="1386856"/>
            <a:ext cx="8527981" cy="5011949"/>
          </a:xfrm>
          <a:prstGeom prst="rect">
            <a:avLst/>
          </a:prstGeom>
          <a:noFill/>
          <a:ln>
            <a:noFill/>
          </a:ln>
        </p:spPr>
        <p:txBody>
          <a:bodyPr anchorCtr="0" anchor="ctr" bIns="45700" lIns="91425" spcFirstLastPara="1" rIns="91425" wrap="square" tIns="45700">
            <a:spAutoFit/>
          </a:bodyPr>
          <a:lstStyle/>
          <a:p>
            <a:pPr indent="-342900" lvl="0" marL="342900" marR="0" rtl="0" algn="l">
              <a:lnSpc>
                <a:spcPct val="150000"/>
              </a:lnSpc>
              <a:spcBef>
                <a:spcPts val="0"/>
              </a:spcBef>
              <a:spcAft>
                <a:spcPts val="0"/>
              </a:spcAft>
              <a:buClr>
                <a:schemeClr val="dk1"/>
              </a:buClr>
              <a:buSzPts val="2400"/>
              <a:buFont typeface="Arial"/>
              <a:buChar char="•"/>
            </a:pPr>
            <a:r>
              <a:rPr i="0" lang="en-US" sz="2400" u="none" cap="none" strike="noStrike">
                <a:solidFill>
                  <a:schemeClr val="dk1"/>
                </a:solidFill>
                <a:latin typeface="Times New Roman"/>
                <a:ea typeface="Times New Roman"/>
                <a:cs typeface="Times New Roman"/>
                <a:sym typeface="Times New Roman"/>
              </a:rPr>
              <a:t>Receive predicted resource demand and real-time inventory data. </a:t>
            </a:r>
            <a:endParaRPr/>
          </a:p>
          <a:p>
            <a:pPr indent="-342900" lvl="0" marL="342900" marR="0" rtl="0" algn="l">
              <a:lnSpc>
                <a:spcPct val="150000"/>
              </a:lnSpc>
              <a:spcBef>
                <a:spcPts val="0"/>
              </a:spcBef>
              <a:spcAft>
                <a:spcPts val="0"/>
              </a:spcAft>
              <a:buClr>
                <a:schemeClr val="dk1"/>
              </a:buClr>
              <a:buSzPts val="2400"/>
              <a:buFont typeface="Arial"/>
              <a:buChar char="•"/>
            </a:pPr>
            <a:r>
              <a:rPr i="0" lang="en-US" sz="2400" u="none" cap="none" strike="noStrike">
                <a:solidFill>
                  <a:schemeClr val="dk1"/>
                </a:solidFill>
                <a:latin typeface="Times New Roman"/>
                <a:ea typeface="Times New Roman"/>
                <a:cs typeface="Times New Roman"/>
                <a:sym typeface="Times New Roman"/>
              </a:rPr>
              <a:t>Analyze emergency priority and resource availability. </a:t>
            </a:r>
            <a:endParaRPr/>
          </a:p>
          <a:p>
            <a:pPr indent="-342900" lvl="0" marL="342900" marR="0" rtl="0" algn="l">
              <a:lnSpc>
                <a:spcPct val="150000"/>
              </a:lnSpc>
              <a:spcBef>
                <a:spcPts val="0"/>
              </a:spcBef>
              <a:spcAft>
                <a:spcPts val="0"/>
              </a:spcAft>
              <a:buClr>
                <a:schemeClr val="dk1"/>
              </a:buClr>
              <a:buSzPts val="2400"/>
              <a:buFont typeface="Arial"/>
              <a:buChar char="•"/>
            </a:pPr>
            <a:r>
              <a:rPr i="0" lang="en-US" sz="2400" u="none" cap="none" strike="noStrike">
                <a:solidFill>
                  <a:schemeClr val="dk1"/>
                </a:solidFill>
                <a:latin typeface="Times New Roman"/>
                <a:ea typeface="Times New Roman"/>
                <a:cs typeface="Times New Roman"/>
                <a:sym typeface="Times New Roman"/>
              </a:rPr>
              <a:t>Select optimal resources for each emergency location. </a:t>
            </a:r>
            <a:endParaRPr/>
          </a:p>
          <a:p>
            <a:pPr indent="-342900" lvl="0" marL="342900" marR="0" rtl="0" algn="l">
              <a:lnSpc>
                <a:spcPct val="150000"/>
              </a:lnSpc>
              <a:spcBef>
                <a:spcPts val="0"/>
              </a:spcBef>
              <a:spcAft>
                <a:spcPts val="0"/>
              </a:spcAft>
              <a:buClr>
                <a:schemeClr val="dk1"/>
              </a:buClr>
              <a:buSzPts val="2400"/>
              <a:buFont typeface="Arial"/>
              <a:buChar char="•"/>
            </a:pPr>
            <a:r>
              <a:rPr i="0" lang="en-US" sz="2400" u="none" cap="none" strike="noStrike">
                <a:solidFill>
                  <a:schemeClr val="dk1"/>
                </a:solidFill>
                <a:latin typeface="Times New Roman"/>
                <a:ea typeface="Times New Roman"/>
                <a:cs typeface="Times New Roman"/>
                <a:sym typeface="Times New Roman"/>
              </a:rPr>
              <a:t>Allocate medical supplies, rescue teams, and emergency vehicles. </a:t>
            </a:r>
            <a:endParaRPr/>
          </a:p>
          <a:p>
            <a:pPr indent="-342900" lvl="0" marL="342900" marR="0" rtl="0" algn="l">
              <a:lnSpc>
                <a:spcPct val="150000"/>
              </a:lnSpc>
              <a:spcBef>
                <a:spcPts val="0"/>
              </a:spcBef>
              <a:spcAft>
                <a:spcPts val="0"/>
              </a:spcAft>
              <a:buClr>
                <a:schemeClr val="dk1"/>
              </a:buClr>
              <a:buSzPts val="2400"/>
              <a:buFont typeface="Arial"/>
              <a:buChar char="•"/>
            </a:pPr>
            <a:r>
              <a:rPr i="0" lang="en-US" sz="2400" u="none" cap="none" strike="noStrike">
                <a:solidFill>
                  <a:schemeClr val="dk1"/>
                </a:solidFill>
                <a:latin typeface="Times New Roman"/>
                <a:ea typeface="Times New Roman"/>
                <a:cs typeface="Times New Roman"/>
                <a:sym typeface="Times New Roman"/>
              </a:rPr>
              <a:t>Use GRU-based ETA prediction for faster dispatch decisions. </a:t>
            </a:r>
            <a:endParaRPr/>
          </a:p>
          <a:p>
            <a:pPr indent="-342900" lvl="0" marL="342900" marR="0" rtl="0" algn="l">
              <a:lnSpc>
                <a:spcPct val="150000"/>
              </a:lnSpc>
              <a:spcBef>
                <a:spcPts val="0"/>
              </a:spcBef>
              <a:spcAft>
                <a:spcPts val="0"/>
              </a:spcAft>
              <a:buClr>
                <a:schemeClr val="dk1"/>
              </a:buClr>
              <a:buSzPts val="2400"/>
              <a:buFont typeface="Arial"/>
              <a:buChar char="•"/>
            </a:pPr>
            <a:r>
              <a:rPr i="0" lang="en-US" sz="2400" u="none" cap="none" strike="noStrike">
                <a:solidFill>
                  <a:schemeClr val="dk1"/>
                </a:solidFill>
                <a:latin typeface="Times New Roman"/>
                <a:ea typeface="Times New Roman"/>
                <a:cs typeface="Times New Roman"/>
                <a:sym typeface="Times New Roman"/>
              </a:rPr>
              <a:t>Optimize routes to reduce response time. </a:t>
            </a:r>
            <a:endParaRPr/>
          </a:p>
          <a:p>
            <a:pPr indent="-342900" lvl="0" marL="342900" marR="0" rtl="0" algn="l">
              <a:lnSpc>
                <a:spcPct val="150000"/>
              </a:lnSpc>
              <a:spcBef>
                <a:spcPts val="0"/>
              </a:spcBef>
              <a:spcAft>
                <a:spcPts val="0"/>
              </a:spcAft>
              <a:buClr>
                <a:schemeClr val="dk1"/>
              </a:buClr>
              <a:buSzPts val="2400"/>
              <a:buFont typeface="Arial"/>
              <a:buChar char="•"/>
            </a:pPr>
            <a:r>
              <a:rPr i="0" lang="en-US" sz="2400" u="none" cap="none" strike="noStrike">
                <a:solidFill>
                  <a:schemeClr val="dk1"/>
                </a:solidFill>
                <a:latin typeface="Times New Roman"/>
                <a:ea typeface="Times New Roman"/>
                <a:cs typeface="Times New Roman"/>
                <a:sym typeface="Times New Roman"/>
              </a:rPr>
              <a:t>Dispatch resources to affected emergency locations. </a:t>
            </a:r>
            <a:endParaRPr/>
          </a:p>
          <a:p>
            <a:pPr indent="-342900" lvl="0" marL="342900" marR="0" rtl="0" algn="l">
              <a:lnSpc>
                <a:spcPct val="150000"/>
              </a:lnSpc>
              <a:spcBef>
                <a:spcPts val="0"/>
              </a:spcBef>
              <a:spcAft>
                <a:spcPts val="0"/>
              </a:spcAft>
              <a:buClr>
                <a:schemeClr val="dk1"/>
              </a:buClr>
              <a:buSzPts val="2400"/>
              <a:buFont typeface="Arial"/>
              <a:buChar char="•"/>
            </a:pPr>
            <a:r>
              <a:rPr i="0" lang="en-US" sz="2400" u="none" cap="none" strike="noStrike">
                <a:solidFill>
                  <a:schemeClr val="dk1"/>
                </a:solidFill>
                <a:latin typeface="Times New Roman"/>
                <a:ea typeface="Times New Roman"/>
                <a:cs typeface="Times New Roman"/>
                <a:sym typeface="Times New Roman"/>
              </a:rPr>
              <a:t>Track resource movement and delivery status in real-time. </a:t>
            </a:r>
            <a:endParaRPr/>
          </a:p>
        </p:txBody>
      </p:sp>
      <p:pic>
        <p:nvPicPr>
          <p:cNvPr id="203" name="Google Shape;203;p14"/>
          <p:cNvPicPr preferRelativeResize="0"/>
          <p:nvPr/>
        </p:nvPicPr>
        <p:blipFill rotWithShape="1">
          <a:blip r:embed="rId5">
            <a:alphaModFix/>
          </a:blip>
          <a:srcRect b="1366" l="7269" r="8635" t="0"/>
          <a:stretch/>
        </p:blipFill>
        <p:spPr>
          <a:xfrm>
            <a:off x="8637223" y="1308700"/>
            <a:ext cx="3425943" cy="5431467"/>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7" name="Shape 207"/>
        <p:cNvGrpSpPr/>
        <p:nvPr/>
      </p:nvGrpSpPr>
      <p:grpSpPr>
        <a:xfrm>
          <a:off x="0" y="0"/>
          <a:ext cx="0" cy="0"/>
          <a:chOff x="0" y="0"/>
          <a:chExt cx="0" cy="0"/>
        </a:xfrm>
      </p:grpSpPr>
      <p:sp>
        <p:nvSpPr>
          <p:cNvPr id="208" name="Google Shape;208;p15"/>
          <p:cNvSpPr txBox="1"/>
          <p:nvPr>
            <p:ph type="ctrTitle"/>
          </p:nvPr>
        </p:nvSpPr>
        <p:spPr>
          <a:xfrm>
            <a:off x="1054068" y="329768"/>
            <a:ext cx="10035600" cy="793059"/>
          </a:xfrm>
          <a:prstGeom prst="rect">
            <a:avLst/>
          </a:prstGeom>
          <a:noFill/>
          <a:ln>
            <a:noFill/>
          </a:ln>
        </p:spPr>
        <p:txBody>
          <a:bodyPr anchorCtr="0" anchor="b" bIns="121900" lIns="121900" spcFirstLastPara="1" rIns="121900" wrap="square" tIns="121900">
            <a:noAutofit/>
          </a:bodyPr>
          <a:lstStyle/>
          <a:p>
            <a:pPr indent="0" lvl="0" marL="0" rtl="0" algn="ctr">
              <a:lnSpc>
                <a:spcPct val="90000"/>
              </a:lnSpc>
              <a:spcBef>
                <a:spcPts val="0"/>
              </a:spcBef>
              <a:spcAft>
                <a:spcPts val="0"/>
              </a:spcAft>
              <a:buClr>
                <a:srgbClr val="FF0000"/>
              </a:buClr>
              <a:buSzPts val="990"/>
              <a:buFont typeface="Times New Roman"/>
              <a:buNone/>
            </a:pPr>
            <a:r>
              <a:rPr lang="en-US" sz="4000">
                <a:solidFill>
                  <a:srgbClr val="FF0000"/>
                </a:solidFill>
                <a:latin typeface="Times New Roman"/>
                <a:ea typeface="Times New Roman"/>
                <a:cs typeface="Times New Roman"/>
                <a:sym typeface="Times New Roman"/>
              </a:rPr>
              <a:t>Output</a:t>
            </a:r>
            <a:endParaRPr sz="4000">
              <a:solidFill>
                <a:srgbClr val="FF0000"/>
              </a:solidFill>
              <a:latin typeface="Times New Roman"/>
              <a:ea typeface="Times New Roman"/>
              <a:cs typeface="Times New Roman"/>
              <a:sym typeface="Times New Roman"/>
            </a:endParaRPr>
          </a:p>
        </p:txBody>
      </p:sp>
      <p:pic>
        <p:nvPicPr>
          <p:cNvPr id="209" name="Google Shape;209;p15"/>
          <p:cNvPicPr preferRelativeResize="0"/>
          <p:nvPr/>
        </p:nvPicPr>
        <p:blipFill rotWithShape="1">
          <a:blip r:embed="rId3">
            <a:alphaModFix/>
          </a:blip>
          <a:srcRect b="0" l="0" r="0" t="0"/>
          <a:stretch/>
        </p:blipFill>
        <p:spPr>
          <a:xfrm>
            <a:off x="11036334" y="117833"/>
            <a:ext cx="1026833" cy="1190867"/>
          </a:xfrm>
          <a:prstGeom prst="rect">
            <a:avLst/>
          </a:prstGeom>
          <a:noFill/>
          <a:ln>
            <a:noFill/>
          </a:ln>
          <a:effectLst>
            <a:outerShdw blurRad="57150" rotWithShape="0" algn="bl" dir="5400000" dist="19050">
              <a:srgbClr val="000000">
                <a:alpha val="50196"/>
              </a:srgbClr>
            </a:outerShdw>
          </a:effectLst>
        </p:spPr>
      </p:pic>
      <p:pic>
        <p:nvPicPr>
          <p:cNvPr id="210" name="Google Shape;210;p15"/>
          <p:cNvPicPr preferRelativeResize="0"/>
          <p:nvPr/>
        </p:nvPicPr>
        <p:blipFill rotWithShape="1">
          <a:blip r:embed="rId4">
            <a:alphaModFix/>
          </a:blip>
          <a:srcRect b="0" l="0" r="0" t="0"/>
          <a:stretch/>
        </p:blipFill>
        <p:spPr>
          <a:xfrm>
            <a:off x="80568" y="117833"/>
            <a:ext cx="1026833" cy="1190867"/>
          </a:xfrm>
          <a:prstGeom prst="rect">
            <a:avLst/>
          </a:prstGeom>
          <a:noFill/>
          <a:ln>
            <a:noFill/>
          </a:ln>
          <a:effectLst>
            <a:outerShdw blurRad="57150" rotWithShape="0" algn="bl" dir="5400000" dist="19050">
              <a:srgbClr val="000000">
                <a:alpha val="50196"/>
              </a:srgbClr>
            </a:outerShdw>
          </a:effectLst>
        </p:spPr>
      </p:pic>
      <p:pic>
        <p:nvPicPr>
          <p:cNvPr id="211" name="Google Shape;211;p15"/>
          <p:cNvPicPr preferRelativeResize="0"/>
          <p:nvPr/>
        </p:nvPicPr>
        <p:blipFill rotWithShape="1">
          <a:blip r:embed="rId5">
            <a:alphaModFix/>
          </a:blip>
          <a:srcRect b="0" l="0" r="0" t="0"/>
          <a:stretch/>
        </p:blipFill>
        <p:spPr>
          <a:xfrm>
            <a:off x="413657" y="1334762"/>
            <a:ext cx="11201400" cy="5066038"/>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 name="Shape 215"/>
        <p:cNvGrpSpPr/>
        <p:nvPr/>
      </p:nvGrpSpPr>
      <p:grpSpPr>
        <a:xfrm>
          <a:off x="0" y="0"/>
          <a:ext cx="0" cy="0"/>
          <a:chOff x="0" y="0"/>
          <a:chExt cx="0" cy="0"/>
        </a:xfrm>
      </p:grpSpPr>
      <p:sp>
        <p:nvSpPr>
          <p:cNvPr id="216" name="Google Shape;216;p16"/>
          <p:cNvSpPr txBox="1"/>
          <p:nvPr>
            <p:ph type="ctrTitle"/>
          </p:nvPr>
        </p:nvSpPr>
        <p:spPr>
          <a:xfrm>
            <a:off x="2842352" y="316050"/>
            <a:ext cx="5935390" cy="753633"/>
          </a:xfrm>
          <a:prstGeom prst="rect">
            <a:avLst/>
          </a:prstGeom>
          <a:noFill/>
          <a:ln>
            <a:noFill/>
          </a:ln>
        </p:spPr>
        <p:txBody>
          <a:bodyPr anchorCtr="0" anchor="b" bIns="121900" lIns="121900" spcFirstLastPara="1" rIns="121900" wrap="square" tIns="121900">
            <a:normAutofit fontScale="90000"/>
          </a:bodyPr>
          <a:lstStyle/>
          <a:p>
            <a:pPr indent="0" lvl="0" marL="0" rtl="0" algn="ctr">
              <a:lnSpc>
                <a:spcPct val="90000"/>
              </a:lnSpc>
              <a:spcBef>
                <a:spcPts val="0"/>
              </a:spcBef>
              <a:spcAft>
                <a:spcPts val="0"/>
              </a:spcAft>
              <a:buClr>
                <a:srgbClr val="FF0000"/>
              </a:buClr>
              <a:buSzPct val="100000"/>
              <a:buFont typeface="Times New Roman"/>
              <a:buNone/>
            </a:pPr>
            <a:r>
              <a:rPr lang="en-US" sz="4400">
                <a:solidFill>
                  <a:srgbClr val="FF0000"/>
                </a:solidFill>
                <a:latin typeface="Times New Roman"/>
                <a:ea typeface="Times New Roman"/>
                <a:cs typeface="Times New Roman"/>
                <a:sym typeface="Times New Roman"/>
              </a:rPr>
              <a:t>Implementation</a:t>
            </a:r>
            <a:endParaRPr sz="4400">
              <a:solidFill>
                <a:srgbClr val="FF0000"/>
              </a:solidFill>
              <a:latin typeface="Times New Roman"/>
              <a:ea typeface="Times New Roman"/>
              <a:cs typeface="Times New Roman"/>
              <a:sym typeface="Times New Roman"/>
            </a:endParaRPr>
          </a:p>
        </p:txBody>
      </p:sp>
      <p:pic>
        <p:nvPicPr>
          <p:cNvPr id="217" name="Google Shape;217;p16"/>
          <p:cNvPicPr preferRelativeResize="0"/>
          <p:nvPr/>
        </p:nvPicPr>
        <p:blipFill rotWithShape="1">
          <a:blip r:embed="rId3">
            <a:alphaModFix/>
          </a:blip>
          <a:srcRect b="0" l="0" r="0" t="0"/>
          <a:stretch/>
        </p:blipFill>
        <p:spPr>
          <a:xfrm>
            <a:off x="11165167" y="0"/>
            <a:ext cx="1026833" cy="1190867"/>
          </a:xfrm>
          <a:prstGeom prst="rect">
            <a:avLst/>
          </a:prstGeom>
          <a:noFill/>
          <a:ln>
            <a:noFill/>
          </a:ln>
          <a:effectLst>
            <a:outerShdw blurRad="57150" rotWithShape="0" algn="bl" dir="5400000" dist="19050">
              <a:srgbClr val="000000">
                <a:alpha val="50196"/>
              </a:srgbClr>
            </a:outerShdw>
          </a:effectLst>
        </p:spPr>
      </p:pic>
      <p:pic>
        <p:nvPicPr>
          <p:cNvPr id="218" name="Google Shape;218;p16"/>
          <p:cNvPicPr preferRelativeResize="0"/>
          <p:nvPr/>
        </p:nvPicPr>
        <p:blipFill rotWithShape="1">
          <a:blip r:embed="rId4">
            <a:alphaModFix/>
          </a:blip>
          <a:srcRect b="0" l="0" r="0" t="0"/>
          <a:stretch/>
        </p:blipFill>
        <p:spPr>
          <a:xfrm>
            <a:off x="0" y="-1676"/>
            <a:ext cx="1026833" cy="1190867"/>
          </a:xfrm>
          <a:prstGeom prst="rect">
            <a:avLst/>
          </a:prstGeom>
          <a:noFill/>
          <a:ln>
            <a:noFill/>
          </a:ln>
          <a:effectLst>
            <a:outerShdw blurRad="57150" rotWithShape="0" algn="bl" dir="5400000" dist="19050">
              <a:srgbClr val="000000">
                <a:alpha val="50196"/>
              </a:srgbClr>
            </a:outerShdw>
          </a:effectLst>
        </p:spPr>
      </p:pic>
      <p:pic>
        <p:nvPicPr>
          <p:cNvPr id="219" name="Google Shape;219;p16"/>
          <p:cNvPicPr preferRelativeResize="0"/>
          <p:nvPr/>
        </p:nvPicPr>
        <p:blipFill rotWithShape="1">
          <a:blip r:embed="rId5">
            <a:alphaModFix/>
          </a:blip>
          <a:srcRect b="0" l="19830" r="-1" t="0"/>
          <a:stretch/>
        </p:blipFill>
        <p:spPr>
          <a:xfrm>
            <a:off x="147377" y="1266309"/>
            <a:ext cx="5662670" cy="3295549"/>
          </a:xfrm>
          <a:prstGeom prst="rect">
            <a:avLst/>
          </a:prstGeom>
          <a:noFill/>
          <a:ln>
            <a:noFill/>
          </a:ln>
        </p:spPr>
      </p:pic>
      <p:pic>
        <p:nvPicPr>
          <p:cNvPr id="220" name="Google Shape;220;p16"/>
          <p:cNvPicPr preferRelativeResize="0"/>
          <p:nvPr/>
        </p:nvPicPr>
        <p:blipFill rotWithShape="1">
          <a:blip r:embed="rId6">
            <a:alphaModFix/>
          </a:blip>
          <a:srcRect b="0" l="18785" r="1714" t="12676"/>
          <a:stretch/>
        </p:blipFill>
        <p:spPr>
          <a:xfrm>
            <a:off x="5810047" y="3211352"/>
            <a:ext cx="6154271" cy="3330598"/>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pic>
        <p:nvPicPr>
          <p:cNvPr id="225" name="Google Shape;225;p17"/>
          <p:cNvPicPr preferRelativeResize="0"/>
          <p:nvPr/>
        </p:nvPicPr>
        <p:blipFill rotWithShape="1">
          <a:blip r:embed="rId3">
            <a:alphaModFix/>
          </a:blip>
          <a:srcRect b="0" l="1540" r="0" t="0"/>
          <a:stretch/>
        </p:blipFill>
        <p:spPr>
          <a:xfrm>
            <a:off x="212389" y="294187"/>
            <a:ext cx="6217623" cy="3189383"/>
          </a:xfrm>
          <a:prstGeom prst="rect">
            <a:avLst/>
          </a:prstGeom>
          <a:noFill/>
          <a:ln>
            <a:noFill/>
          </a:ln>
        </p:spPr>
      </p:pic>
      <p:pic>
        <p:nvPicPr>
          <p:cNvPr id="226" name="Google Shape;226;p17"/>
          <p:cNvPicPr preferRelativeResize="0"/>
          <p:nvPr/>
        </p:nvPicPr>
        <p:blipFill rotWithShape="1">
          <a:blip r:embed="rId4">
            <a:alphaModFix/>
          </a:blip>
          <a:srcRect b="0" l="0" r="0" t="0"/>
          <a:stretch/>
        </p:blipFill>
        <p:spPr>
          <a:xfrm>
            <a:off x="2859868" y="3559104"/>
            <a:ext cx="7140287" cy="3128135"/>
          </a:xfrm>
          <a:prstGeom prst="rect">
            <a:avLst/>
          </a:prstGeom>
          <a:noFill/>
          <a:ln>
            <a:noFill/>
          </a:ln>
        </p:spPr>
      </p:pic>
      <p:pic>
        <p:nvPicPr>
          <p:cNvPr id="227" name="Google Shape;227;p17"/>
          <p:cNvPicPr preferRelativeResize="0"/>
          <p:nvPr/>
        </p:nvPicPr>
        <p:blipFill rotWithShape="1">
          <a:blip r:embed="rId5">
            <a:alphaModFix/>
          </a:blip>
          <a:srcRect b="0" l="0" r="0" t="0"/>
          <a:stretch/>
        </p:blipFill>
        <p:spPr>
          <a:xfrm>
            <a:off x="6674656" y="218655"/>
            <a:ext cx="5113261" cy="3340449"/>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sp>
        <p:nvSpPr>
          <p:cNvPr id="232" name="Google Shape;232;p18"/>
          <p:cNvSpPr txBox="1"/>
          <p:nvPr>
            <p:ph type="ctrTitle"/>
          </p:nvPr>
        </p:nvSpPr>
        <p:spPr>
          <a:xfrm>
            <a:off x="2842352" y="316050"/>
            <a:ext cx="5935390" cy="753633"/>
          </a:xfrm>
          <a:prstGeom prst="rect">
            <a:avLst/>
          </a:prstGeom>
          <a:noFill/>
          <a:ln>
            <a:noFill/>
          </a:ln>
        </p:spPr>
        <p:txBody>
          <a:bodyPr anchorCtr="0" anchor="b" bIns="121900" lIns="121900" spcFirstLastPara="1" rIns="121900" wrap="square" tIns="121900">
            <a:normAutofit fontScale="90000"/>
          </a:bodyPr>
          <a:lstStyle/>
          <a:p>
            <a:pPr indent="0" lvl="0" marL="0" rtl="0" algn="ctr">
              <a:lnSpc>
                <a:spcPct val="90000"/>
              </a:lnSpc>
              <a:spcBef>
                <a:spcPts val="0"/>
              </a:spcBef>
              <a:spcAft>
                <a:spcPts val="0"/>
              </a:spcAft>
              <a:buClr>
                <a:srgbClr val="FF0000"/>
              </a:buClr>
              <a:buSzPct val="100000"/>
              <a:buFont typeface="Times New Roman"/>
              <a:buNone/>
            </a:pPr>
            <a:r>
              <a:rPr lang="en-US" sz="4400">
                <a:solidFill>
                  <a:srgbClr val="FF0000"/>
                </a:solidFill>
                <a:latin typeface="Times New Roman"/>
                <a:ea typeface="Times New Roman"/>
                <a:cs typeface="Times New Roman"/>
                <a:sym typeface="Times New Roman"/>
              </a:rPr>
              <a:t>Conclusion</a:t>
            </a:r>
            <a:endParaRPr sz="4400">
              <a:solidFill>
                <a:srgbClr val="FF0000"/>
              </a:solidFill>
              <a:latin typeface="Times New Roman"/>
              <a:ea typeface="Times New Roman"/>
              <a:cs typeface="Times New Roman"/>
              <a:sym typeface="Times New Roman"/>
            </a:endParaRPr>
          </a:p>
        </p:txBody>
      </p:sp>
      <p:pic>
        <p:nvPicPr>
          <p:cNvPr id="233" name="Google Shape;233;p18"/>
          <p:cNvPicPr preferRelativeResize="0"/>
          <p:nvPr/>
        </p:nvPicPr>
        <p:blipFill rotWithShape="1">
          <a:blip r:embed="rId3">
            <a:alphaModFix/>
          </a:blip>
          <a:srcRect b="0" l="0" r="0" t="0"/>
          <a:stretch/>
        </p:blipFill>
        <p:spPr>
          <a:xfrm>
            <a:off x="11036334" y="117833"/>
            <a:ext cx="1026833" cy="1190867"/>
          </a:xfrm>
          <a:prstGeom prst="rect">
            <a:avLst/>
          </a:prstGeom>
          <a:noFill/>
          <a:ln>
            <a:noFill/>
          </a:ln>
          <a:effectLst>
            <a:outerShdw blurRad="57150" rotWithShape="0" algn="bl" dir="5400000" dist="19050">
              <a:srgbClr val="000000">
                <a:alpha val="50196"/>
              </a:srgbClr>
            </a:outerShdw>
          </a:effectLst>
        </p:spPr>
      </p:pic>
      <p:pic>
        <p:nvPicPr>
          <p:cNvPr id="234" name="Google Shape;234;p18"/>
          <p:cNvPicPr preferRelativeResize="0"/>
          <p:nvPr/>
        </p:nvPicPr>
        <p:blipFill rotWithShape="1">
          <a:blip r:embed="rId4">
            <a:alphaModFix/>
          </a:blip>
          <a:srcRect b="0" l="0" r="0" t="0"/>
          <a:stretch/>
        </p:blipFill>
        <p:spPr>
          <a:xfrm>
            <a:off x="80568" y="117833"/>
            <a:ext cx="1026833" cy="1190867"/>
          </a:xfrm>
          <a:prstGeom prst="rect">
            <a:avLst/>
          </a:prstGeom>
          <a:noFill/>
          <a:ln>
            <a:noFill/>
          </a:ln>
          <a:effectLst>
            <a:outerShdw blurRad="57150" rotWithShape="0" algn="bl" dir="5400000" dist="19050">
              <a:srgbClr val="000000">
                <a:alpha val="50196"/>
              </a:srgbClr>
            </a:outerShdw>
          </a:effectLst>
        </p:spPr>
      </p:pic>
      <p:pic>
        <p:nvPicPr>
          <p:cNvPr descr="Conclusion Vector Outline Icon Design Illustration Assessment Symbol On ..." id="235" name="Google Shape;235;p18"/>
          <p:cNvPicPr preferRelativeResize="0"/>
          <p:nvPr/>
        </p:nvPicPr>
        <p:blipFill rotWithShape="1">
          <a:blip r:embed="rId5">
            <a:alphaModFix/>
          </a:blip>
          <a:srcRect b="0" l="0" r="0" t="0"/>
          <a:stretch/>
        </p:blipFill>
        <p:spPr>
          <a:xfrm>
            <a:off x="8596583" y="2342406"/>
            <a:ext cx="3582539" cy="3081618"/>
          </a:xfrm>
          <a:prstGeom prst="rect">
            <a:avLst/>
          </a:prstGeom>
          <a:noFill/>
          <a:ln>
            <a:noFill/>
          </a:ln>
        </p:spPr>
      </p:pic>
      <p:sp>
        <p:nvSpPr>
          <p:cNvPr id="236" name="Google Shape;236;p18"/>
          <p:cNvSpPr/>
          <p:nvPr/>
        </p:nvSpPr>
        <p:spPr>
          <a:xfrm>
            <a:off x="391885" y="1805723"/>
            <a:ext cx="8385857" cy="4154984"/>
          </a:xfrm>
          <a:prstGeom prst="rect">
            <a:avLst/>
          </a:prstGeom>
          <a:noFill/>
          <a:ln>
            <a:noFill/>
          </a:ln>
        </p:spPr>
        <p:txBody>
          <a:bodyPr anchorCtr="0" anchor="ctr" bIns="45700" lIns="91425" spcFirstLastPara="1" rIns="91425" wrap="square" tIns="45700">
            <a:spAutoFit/>
          </a:bodyPr>
          <a:lstStyle/>
          <a:p>
            <a:pPr indent="-342900" lvl="0" marL="342900" marR="0" rtl="0" algn="just">
              <a:lnSpc>
                <a:spcPct val="100000"/>
              </a:lnSpc>
              <a:spcBef>
                <a:spcPts val="0"/>
              </a:spcBef>
              <a:spcAft>
                <a:spcPts val="0"/>
              </a:spcAft>
              <a:buClr>
                <a:schemeClr val="dk1"/>
              </a:buClr>
              <a:buSzPts val="2400"/>
              <a:buFont typeface="Arial"/>
              <a:buChar char="•"/>
            </a:pPr>
            <a:r>
              <a:rPr i="0" lang="en-US" sz="2400" u="none" cap="none" strike="noStrike">
                <a:solidFill>
                  <a:schemeClr val="dk1"/>
                </a:solidFill>
                <a:latin typeface="Times New Roman"/>
                <a:ea typeface="Times New Roman"/>
                <a:cs typeface="Times New Roman"/>
                <a:sym typeface="Times New Roman"/>
              </a:rPr>
              <a:t>Developed a deep learning-based smart system for emergency resource management.</a:t>
            </a:r>
            <a:endParaRPr/>
          </a:p>
          <a:p>
            <a:pPr indent="-342900" lvl="0" marL="342900" marR="0" rtl="0" algn="just">
              <a:lnSpc>
                <a:spcPct val="100000"/>
              </a:lnSpc>
              <a:spcBef>
                <a:spcPts val="0"/>
              </a:spcBef>
              <a:spcAft>
                <a:spcPts val="0"/>
              </a:spcAft>
              <a:buClr>
                <a:schemeClr val="dk1"/>
              </a:buClr>
              <a:buSzPts val="2400"/>
              <a:buFont typeface="Arial"/>
              <a:buChar char="•"/>
            </a:pPr>
            <a:r>
              <a:rPr i="0" lang="en-US" sz="2400" u="none" cap="none" strike="noStrike">
                <a:solidFill>
                  <a:schemeClr val="dk1"/>
                </a:solidFill>
                <a:latin typeface="Times New Roman"/>
                <a:ea typeface="Times New Roman"/>
                <a:cs typeface="Times New Roman"/>
                <a:sym typeface="Times New Roman"/>
              </a:rPr>
              <a:t>Integrated LSTM and GRU models for demand prediction and travel time estimation.</a:t>
            </a:r>
            <a:endParaRPr/>
          </a:p>
          <a:p>
            <a:pPr indent="-342900" lvl="0" marL="342900" marR="0" rtl="0" algn="just">
              <a:lnSpc>
                <a:spcPct val="100000"/>
              </a:lnSpc>
              <a:spcBef>
                <a:spcPts val="0"/>
              </a:spcBef>
              <a:spcAft>
                <a:spcPts val="0"/>
              </a:spcAft>
              <a:buClr>
                <a:schemeClr val="dk1"/>
              </a:buClr>
              <a:buSzPts val="2400"/>
              <a:buFont typeface="Arial"/>
              <a:buChar char="•"/>
            </a:pPr>
            <a:r>
              <a:rPr i="0" lang="en-US" sz="2400" u="none" cap="none" strike="noStrike">
                <a:solidFill>
                  <a:schemeClr val="dk1"/>
                </a:solidFill>
                <a:latin typeface="Times New Roman"/>
                <a:ea typeface="Times New Roman"/>
                <a:cs typeface="Times New Roman"/>
                <a:sym typeface="Times New Roman"/>
              </a:rPr>
              <a:t>Enabled real-time resource allocation and dispatch planning </a:t>
            </a:r>
            <a:endParaRPr/>
          </a:p>
          <a:p>
            <a:pPr indent="-342900" lvl="0" marL="342900" marR="0" rtl="0" algn="just">
              <a:lnSpc>
                <a:spcPct val="100000"/>
              </a:lnSpc>
              <a:spcBef>
                <a:spcPts val="0"/>
              </a:spcBef>
              <a:spcAft>
                <a:spcPts val="0"/>
              </a:spcAft>
              <a:buClr>
                <a:schemeClr val="dk1"/>
              </a:buClr>
              <a:buSzPts val="2400"/>
              <a:buFont typeface="Arial"/>
              <a:buChar char="•"/>
            </a:pPr>
            <a:r>
              <a:rPr i="0" lang="en-US" sz="2400" u="none" cap="none" strike="noStrike">
                <a:solidFill>
                  <a:schemeClr val="dk1"/>
                </a:solidFill>
                <a:latin typeface="Times New Roman"/>
                <a:ea typeface="Times New Roman"/>
                <a:cs typeface="Times New Roman"/>
                <a:sym typeface="Times New Roman"/>
              </a:rPr>
              <a:t>Implemented IoT-based inventory monitoring for continuous tracking.</a:t>
            </a:r>
            <a:endParaRPr/>
          </a:p>
          <a:p>
            <a:pPr indent="-342900" lvl="0" marL="342900" marR="0" rtl="0" algn="just">
              <a:lnSpc>
                <a:spcPct val="100000"/>
              </a:lnSpc>
              <a:spcBef>
                <a:spcPts val="0"/>
              </a:spcBef>
              <a:spcAft>
                <a:spcPts val="0"/>
              </a:spcAft>
              <a:buClr>
                <a:schemeClr val="dk1"/>
              </a:buClr>
              <a:buSzPts val="2400"/>
              <a:buFont typeface="Arial"/>
              <a:buChar char="•"/>
            </a:pPr>
            <a:r>
              <a:rPr i="0" lang="en-US" sz="2400" u="none" cap="none" strike="noStrike">
                <a:solidFill>
                  <a:schemeClr val="dk1"/>
                </a:solidFill>
                <a:latin typeface="Times New Roman"/>
                <a:ea typeface="Times New Roman"/>
                <a:cs typeface="Times New Roman"/>
                <a:sym typeface="Times New Roman"/>
              </a:rPr>
              <a:t>Improved response time, efficiency, and decision-making.</a:t>
            </a:r>
            <a:endParaRPr/>
          </a:p>
          <a:p>
            <a:pPr indent="-342900" lvl="0" marL="342900" marR="0" rtl="0" algn="just">
              <a:lnSpc>
                <a:spcPct val="100000"/>
              </a:lnSpc>
              <a:spcBef>
                <a:spcPts val="0"/>
              </a:spcBef>
              <a:spcAft>
                <a:spcPts val="0"/>
              </a:spcAft>
              <a:buClr>
                <a:schemeClr val="dk1"/>
              </a:buClr>
              <a:buSzPts val="2400"/>
              <a:buFont typeface="Arial"/>
              <a:buChar char="•"/>
            </a:pPr>
            <a:r>
              <a:rPr i="0" lang="en-US" sz="2400" u="none" cap="none" strike="noStrike">
                <a:solidFill>
                  <a:schemeClr val="dk1"/>
                </a:solidFill>
                <a:latin typeface="Times New Roman"/>
                <a:ea typeface="Times New Roman"/>
                <a:cs typeface="Times New Roman"/>
                <a:sym typeface="Times New Roman"/>
              </a:rPr>
              <a:t>Reduced resource shortages and delays in emergencies.</a:t>
            </a:r>
            <a:endParaRPr/>
          </a:p>
          <a:p>
            <a:pPr indent="-342900" lvl="0" marL="342900" marR="0" rtl="0" algn="just">
              <a:lnSpc>
                <a:spcPct val="100000"/>
              </a:lnSpc>
              <a:spcBef>
                <a:spcPts val="0"/>
              </a:spcBef>
              <a:spcAft>
                <a:spcPts val="0"/>
              </a:spcAft>
              <a:buClr>
                <a:schemeClr val="dk1"/>
              </a:buClr>
              <a:buSzPts val="2400"/>
              <a:buFont typeface="Arial"/>
              <a:buChar char="•"/>
            </a:pPr>
            <a:r>
              <a:rPr i="0" lang="en-US" sz="2400" u="none" cap="none" strike="noStrike">
                <a:solidFill>
                  <a:schemeClr val="dk1"/>
                </a:solidFill>
                <a:latin typeface="Times New Roman"/>
                <a:ea typeface="Times New Roman"/>
                <a:cs typeface="Times New Roman"/>
                <a:sym typeface="Times New Roman"/>
              </a:rPr>
              <a:t>Overall system enhances emergency management and public safety.</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0" name="Shape 240"/>
        <p:cNvGrpSpPr/>
        <p:nvPr/>
      </p:nvGrpSpPr>
      <p:grpSpPr>
        <a:xfrm>
          <a:off x="0" y="0"/>
          <a:ext cx="0" cy="0"/>
          <a:chOff x="0" y="0"/>
          <a:chExt cx="0" cy="0"/>
        </a:xfrm>
      </p:grpSpPr>
      <p:sp>
        <p:nvSpPr>
          <p:cNvPr id="241" name="Google Shape;241;p19"/>
          <p:cNvSpPr txBox="1"/>
          <p:nvPr>
            <p:ph type="ctrTitle"/>
          </p:nvPr>
        </p:nvSpPr>
        <p:spPr>
          <a:xfrm>
            <a:off x="2820318" y="278836"/>
            <a:ext cx="5935390" cy="753633"/>
          </a:xfrm>
          <a:prstGeom prst="rect">
            <a:avLst/>
          </a:prstGeom>
          <a:noFill/>
          <a:ln>
            <a:noFill/>
          </a:ln>
        </p:spPr>
        <p:txBody>
          <a:bodyPr anchorCtr="0" anchor="b" bIns="121900" lIns="121900" spcFirstLastPara="1" rIns="121900" wrap="square" tIns="121900">
            <a:normAutofit fontScale="90000"/>
          </a:bodyPr>
          <a:lstStyle/>
          <a:p>
            <a:pPr indent="0" lvl="0" marL="0" rtl="0" algn="ctr">
              <a:lnSpc>
                <a:spcPct val="90000"/>
              </a:lnSpc>
              <a:spcBef>
                <a:spcPts val="0"/>
              </a:spcBef>
              <a:spcAft>
                <a:spcPts val="0"/>
              </a:spcAft>
              <a:buClr>
                <a:srgbClr val="FF0000"/>
              </a:buClr>
              <a:buSzPct val="100000"/>
              <a:buFont typeface="Times New Roman"/>
              <a:buNone/>
            </a:pPr>
            <a:r>
              <a:rPr lang="en-US" sz="4400">
                <a:solidFill>
                  <a:srgbClr val="FF0000"/>
                </a:solidFill>
                <a:latin typeface="Times New Roman"/>
                <a:ea typeface="Times New Roman"/>
                <a:cs typeface="Times New Roman"/>
                <a:sym typeface="Times New Roman"/>
              </a:rPr>
              <a:t>Future scope</a:t>
            </a:r>
            <a:endParaRPr sz="4400">
              <a:solidFill>
                <a:srgbClr val="FF0000"/>
              </a:solidFill>
              <a:latin typeface="Times New Roman"/>
              <a:ea typeface="Times New Roman"/>
              <a:cs typeface="Times New Roman"/>
              <a:sym typeface="Times New Roman"/>
            </a:endParaRPr>
          </a:p>
        </p:txBody>
      </p:sp>
      <p:pic>
        <p:nvPicPr>
          <p:cNvPr id="242" name="Google Shape;242;p19"/>
          <p:cNvPicPr preferRelativeResize="0"/>
          <p:nvPr/>
        </p:nvPicPr>
        <p:blipFill rotWithShape="1">
          <a:blip r:embed="rId3">
            <a:alphaModFix/>
          </a:blip>
          <a:srcRect b="0" l="0" r="0" t="0"/>
          <a:stretch/>
        </p:blipFill>
        <p:spPr>
          <a:xfrm>
            <a:off x="11036334" y="117833"/>
            <a:ext cx="1026833" cy="1190867"/>
          </a:xfrm>
          <a:prstGeom prst="rect">
            <a:avLst/>
          </a:prstGeom>
          <a:noFill/>
          <a:ln>
            <a:noFill/>
          </a:ln>
          <a:effectLst>
            <a:outerShdw blurRad="57150" rotWithShape="0" algn="bl" dir="5400000" dist="19050">
              <a:srgbClr val="000000">
                <a:alpha val="50196"/>
              </a:srgbClr>
            </a:outerShdw>
          </a:effectLst>
        </p:spPr>
      </p:pic>
      <p:pic>
        <p:nvPicPr>
          <p:cNvPr id="243" name="Google Shape;243;p19"/>
          <p:cNvPicPr preferRelativeResize="0"/>
          <p:nvPr/>
        </p:nvPicPr>
        <p:blipFill rotWithShape="1">
          <a:blip r:embed="rId4">
            <a:alphaModFix/>
          </a:blip>
          <a:srcRect b="0" l="0" r="0" t="0"/>
          <a:stretch/>
        </p:blipFill>
        <p:spPr>
          <a:xfrm>
            <a:off x="80568" y="117833"/>
            <a:ext cx="1026833" cy="1190867"/>
          </a:xfrm>
          <a:prstGeom prst="rect">
            <a:avLst/>
          </a:prstGeom>
          <a:noFill/>
          <a:ln>
            <a:noFill/>
          </a:ln>
          <a:effectLst>
            <a:outerShdw blurRad="57150" rotWithShape="0" algn="bl" dir="5400000" dist="19050">
              <a:srgbClr val="000000">
                <a:alpha val="50196"/>
              </a:srgbClr>
            </a:outerShdw>
          </a:effectLst>
        </p:spPr>
      </p:pic>
      <p:pic>
        <p:nvPicPr>
          <p:cNvPr descr="Premium Vector | Vector Design Eye Recognition Icon Style" id="244" name="Google Shape;244;p19"/>
          <p:cNvPicPr preferRelativeResize="0"/>
          <p:nvPr/>
        </p:nvPicPr>
        <p:blipFill rotWithShape="1">
          <a:blip r:embed="rId5">
            <a:alphaModFix/>
          </a:blip>
          <a:srcRect b="0" l="0" r="0" t="0"/>
          <a:stretch/>
        </p:blipFill>
        <p:spPr>
          <a:xfrm>
            <a:off x="593984" y="2299709"/>
            <a:ext cx="2743200" cy="2743200"/>
          </a:xfrm>
          <a:prstGeom prst="rect">
            <a:avLst/>
          </a:prstGeom>
          <a:noFill/>
          <a:ln>
            <a:noFill/>
          </a:ln>
        </p:spPr>
      </p:pic>
      <p:sp>
        <p:nvSpPr>
          <p:cNvPr id="245" name="Google Shape;245;p19"/>
          <p:cNvSpPr/>
          <p:nvPr/>
        </p:nvSpPr>
        <p:spPr>
          <a:xfrm>
            <a:off x="3842657" y="2004260"/>
            <a:ext cx="8044543" cy="3785652"/>
          </a:xfrm>
          <a:prstGeom prst="rect">
            <a:avLst/>
          </a:prstGeom>
          <a:noFill/>
          <a:ln>
            <a:noFill/>
          </a:ln>
        </p:spPr>
        <p:txBody>
          <a:bodyPr anchorCtr="0" anchor="ctr" bIns="45700" lIns="91425" spcFirstLastPara="1" rIns="91425" wrap="square" tIns="45700">
            <a:spAutoFit/>
          </a:bodyPr>
          <a:lstStyle/>
          <a:p>
            <a:pPr indent="-342900" lvl="0" marL="342900" marR="0" rtl="0" algn="l">
              <a:lnSpc>
                <a:spcPct val="100000"/>
              </a:lnSpc>
              <a:spcBef>
                <a:spcPts val="0"/>
              </a:spcBef>
              <a:spcAft>
                <a:spcPts val="0"/>
              </a:spcAft>
              <a:buClr>
                <a:schemeClr val="dk1"/>
              </a:buClr>
              <a:buSzPts val="2400"/>
              <a:buFont typeface="Arial"/>
              <a:buChar char="•"/>
            </a:pPr>
            <a:r>
              <a:rPr i="0" lang="en-US" sz="2400" u="none" cap="none" strike="noStrike">
                <a:solidFill>
                  <a:schemeClr val="dk1"/>
                </a:solidFill>
                <a:latin typeface="Times New Roman"/>
                <a:ea typeface="Times New Roman"/>
                <a:cs typeface="Times New Roman"/>
                <a:sym typeface="Times New Roman"/>
              </a:rPr>
              <a:t>Integrate live traffic data and maps (GPS/Maps APIs) for more accurate ETA prediction.</a:t>
            </a:r>
            <a:endParaRPr/>
          </a:p>
          <a:p>
            <a:pPr indent="-342900" lvl="0" marL="342900" marR="0" rtl="0" algn="l">
              <a:lnSpc>
                <a:spcPct val="100000"/>
              </a:lnSpc>
              <a:spcBef>
                <a:spcPts val="0"/>
              </a:spcBef>
              <a:spcAft>
                <a:spcPts val="0"/>
              </a:spcAft>
              <a:buClr>
                <a:schemeClr val="dk1"/>
              </a:buClr>
              <a:buSzPts val="2400"/>
              <a:buFont typeface="Arial"/>
              <a:buChar char="•"/>
            </a:pPr>
            <a:r>
              <a:rPr i="0" lang="en-US" sz="2400" u="none" cap="none" strike="noStrike">
                <a:solidFill>
                  <a:schemeClr val="dk1"/>
                </a:solidFill>
                <a:latin typeface="Times New Roman"/>
                <a:ea typeface="Times New Roman"/>
                <a:cs typeface="Times New Roman"/>
                <a:sym typeface="Times New Roman"/>
              </a:rPr>
              <a:t>Use advanced deep learning models (Transformers, Graph Neural Networks) for improved accuracy. </a:t>
            </a:r>
            <a:endParaRPr/>
          </a:p>
          <a:p>
            <a:pPr indent="-342900" lvl="0" marL="342900" marR="0" rtl="0" algn="l">
              <a:lnSpc>
                <a:spcPct val="100000"/>
              </a:lnSpc>
              <a:spcBef>
                <a:spcPts val="0"/>
              </a:spcBef>
              <a:spcAft>
                <a:spcPts val="0"/>
              </a:spcAft>
              <a:buClr>
                <a:schemeClr val="dk1"/>
              </a:buClr>
              <a:buSzPts val="2400"/>
              <a:buFont typeface="Arial"/>
              <a:buChar char="•"/>
            </a:pPr>
            <a:r>
              <a:rPr i="0" lang="en-US" sz="2400" u="none" cap="none" strike="noStrike">
                <a:solidFill>
                  <a:schemeClr val="dk1"/>
                </a:solidFill>
                <a:latin typeface="Times New Roman"/>
                <a:ea typeface="Times New Roman"/>
                <a:cs typeface="Times New Roman"/>
                <a:sym typeface="Times New Roman"/>
              </a:rPr>
              <a:t>Develop a mobile application for real-time alerts and coordination.</a:t>
            </a:r>
            <a:endParaRPr/>
          </a:p>
          <a:p>
            <a:pPr indent="-342900" lvl="0" marL="342900" marR="0" rtl="0" algn="l">
              <a:lnSpc>
                <a:spcPct val="100000"/>
              </a:lnSpc>
              <a:spcBef>
                <a:spcPts val="0"/>
              </a:spcBef>
              <a:spcAft>
                <a:spcPts val="0"/>
              </a:spcAft>
              <a:buClr>
                <a:schemeClr val="dk1"/>
              </a:buClr>
              <a:buSzPts val="2400"/>
              <a:buFont typeface="Arial"/>
              <a:buChar char="•"/>
            </a:pPr>
            <a:r>
              <a:rPr i="0" lang="en-US" sz="2400" u="none" cap="none" strike="noStrike">
                <a:solidFill>
                  <a:schemeClr val="dk1"/>
                </a:solidFill>
                <a:latin typeface="Times New Roman"/>
                <a:ea typeface="Times New Roman"/>
                <a:cs typeface="Times New Roman"/>
                <a:sym typeface="Times New Roman"/>
              </a:rPr>
              <a:t>Expand system to multi-city / nationwide deployment.</a:t>
            </a:r>
            <a:endParaRPr/>
          </a:p>
          <a:p>
            <a:pPr indent="-342900" lvl="0" marL="342900" marR="0" rtl="0" algn="l">
              <a:lnSpc>
                <a:spcPct val="100000"/>
              </a:lnSpc>
              <a:spcBef>
                <a:spcPts val="0"/>
              </a:spcBef>
              <a:spcAft>
                <a:spcPts val="0"/>
              </a:spcAft>
              <a:buClr>
                <a:schemeClr val="dk1"/>
              </a:buClr>
              <a:buSzPts val="2400"/>
              <a:buFont typeface="Arial"/>
              <a:buChar char="•"/>
            </a:pPr>
            <a:r>
              <a:rPr i="0" lang="en-US" sz="2400" u="none" cap="none" strike="noStrike">
                <a:solidFill>
                  <a:schemeClr val="dk1"/>
                </a:solidFill>
                <a:latin typeface="Times New Roman"/>
                <a:ea typeface="Times New Roman"/>
                <a:cs typeface="Times New Roman"/>
                <a:sym typeface="Times New Roman"/>
              </a:rPr>
              <a:t>Incorporate drone-based emergency delivery systems.</a:t>
            </a:r>
            <a:endParaRPr/>
          </a:p>
          <a:p>
            <a:pPr indent="-342900" lvl="0" marL="342900" marR="0" rtl="0" algn="l">
              <a:lnSpc>
                <a:spcPct val="100000"/>
              </a:lnSpc>
              <a:spcBef>
                <a:spcPts val="0"/>
              </a:spcBef>
              <a:spcAft>
                <a:spcPts val="0"/>
              </a:spcAft>
              <a:buClr>
                <a:schemeClr val="dk1"/>
              </a:buClr>
              <a:buSzPts val="2400"/>
              <a:buFont typeface="Arial"/>
              <a:buChar char="•"/>
            </a:pPr>
            <a:r>
              <a:rPr i="0" lang="en-US" sz="2400" u="none" cap="none" strike="noStrike">
                <a:solidFill>
                  <a:schemeClr val="dk1"/>
                </a:solidFill>
                <a:latin typeface="Times New Roman"/>
                <a:ea typeface="Times New Roman"/>
                <a:cs typeface="Times New Roman"/>
                <a:sym typeface="Times New Roman"/>
              </a:rPr>
              <a:t>Enhance predictive analytics using larger and real-time datasets.</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9" name="Shape 249"/>
        <p:cNvGrpSpPr/>
        <p:nvPr/>
      </p:nvGrpSpPr>
      <p:grpSpPr>
        <a:xfrm>
          <a:off x="0" y="0"/>
          <a:ext cx="0" cy="0"/>
          <a:chOff x="0" y="0"/>
          <a:chExt cx="0" cy="0"/>
        </a:xfrm>
      </p:grpSpPr>
      <p:sp>
        <p:nvSpPr>
          <p:cNvPr id="250" name="Google Shape;250;p20"/>
          <p:cNvSpPr txBox="1"/>
          <p:nvPr>
            <p:ph type="ctrTitle"/>
          </p:nvPr>
        </p:nvSpPr>
        <p:spPr>
          <a:xfrm>
            <a:off x="2842352" y="316050"/>
            <a:ext cx="5935390" cy="753633"/>
          </a:xfrm>
          <a:prstGeom prst="rect">
            <a:avLst/>
          </a:prstGeom>
          <a:noFill/>
          <a:ln>
            <a:noFill/>
          </a:ln>
        </p:spPr>
        <p:txBody>
          <a:bodyPr anchorCtr="0" anchor="b" bIns="121900" lIns="121900" spcFirstLastPara="1" rIns="121900" wrap="square" tIns="121900">
            <a:normAutofit fontScale="90000"/>
          </a:bodyPr>
          <a:lstStyle/>
          <a:p>
            <a:pPr indent="0" lvl="0" marL="0" rtl="0" algn="ctr">
              <a:lnSpc>
                <a:spcPct val="90000"/>
              </a:lnSpc>
              <a:spcBef>
                <a:spcPts val="0"/>
              </a:spcBef>
              <a:spcAft>
                <a:spcPts val="0"/>
              </a:spcAft>
              <a:buClr>
                <a:srgbClr val="FF0000"/>
              </a:buClr>
              <a:buSzPct val="100000"/>
              <a:buFont typeface="Times New Roman"/>
              <a:buNone/>
            </a:pPr>
            <a:r>
              <a:rPr lang="en-US" sz="4400">
                <a:solidFill>
                  <a:srgbClr val="FF0000"/>
                </a:solidFill>
                <a:latin typeface="Times New Roman"/>
                <a:ea typeface="Times New Roman"/>
                <a:cs typeface="Times New Roman"/>
                <a:sym typeface="Times New Roman"/>
              </a:rPr>
              <a:t>References </a:t>
            </a:r>
            <a:endParaRPr sz="4400">
              <a:solidFill>
                <a:srgbClr val="FF0000"/>
              </a:solidFill>
              <a:latin typeface="Times New Roman"/>
              <a:ea typeface="Times New Roman"/>
              <a:cs typeface="Times New Roman"/>
              <a:sym typeface="Times New Roman"/>
            </a:endParaRPr>
          </a:p>
        </p:txBody>
      </p:sp>
      <p:pic>
        <p:nvPicPr>
          <p:cNvPr id="251" name="Google Shape;251;p20"/>
          <p:cNvPicPr preferRelativeResize="0"/>
          <p:nvPr/>
        </p:nvPicPr>
        <p:blipFill rotWithShape="1">
          <a:blip r:embed="rId3">
            <a:alphaModFix/>
          </a:blip>
          <a:srcRect b="0" l="0" r="0" t="0"/>
          <a:stretch/>
        </p:blipFill>
        <p:spPr>
          <a:xfrm>
            <a:off x="11036334" y="117833"/>
            <a:ext cx="1026833" cy="1190867"/>
          </a:xfrm>
          <a:prstGeom prst="rect">
            <a:avLst/>
          </a:prstGeom>
          <a:noFill/>
          <a:ln>
            <a:noFill/>
          </a:ln>
          <a:effectLst>
            <a:outerShdw blurRad="57150" rotWithShape="0" algn="bl" dir="5400000" dist="19050">
              <a:srgbClr val="000000">
                <a:alpha val="50196"/>
              </a:srgbClr>
            </a:outerShdw>
          </a:effectLst>
        </p:spPr>
      </p:pic>
      <p:pic>
        <p:nvPicPr>
          <p:cNvPr id="252" name="Google Shape;252;p20"/>
          <p:cNvPicPr preferRelativeResize="0"/>
          <p:nvPr/>
        </p:nvPicPr>
        <p:blipFill rotWithShape="1">
          <a:blip r:embed="rId4">
            <a:alphaModFix/>
          </a:blip>
          <a:srcRect b="0" l="0" r="0" t="0"/>
          <a:stretch/>
        </p:blipFill>
        <p:spPr>
          <a:xfrm>
            <a:off x="80568" y="117833"/>
            <a:ext cx="1026833" cy="1190867"/>
          </a:xfrm>
          <a:prstGeom prst="rect">
            <a:avLst/>
          </a:prstGeom>
          <a:noFill/>
          <a:ln>
            <a:noFill/>
          </a:ln>
          <a:effectLst>
            <a:outerShdw blurRad="57150" rotWithShape="0" algn="bl" dir="5400000" dist="19050">
              <a:srgbClr val="000000">
                <a:alpha val="50196"/>
              </a:srgbClr>
            </a:outerShdw>
          </a:effectLst>
        </p:spPr>
      </p:pic>
      <p:sp>
        <p:nvSpPr>
          <p:cNvPr id="253" name="Google Shape;253;p20"/>
          <p:cNvSpPr/>
          <p:nvPr/>
        </p:nvSpPr>
        <p:spPr>
          <a:xfrm>
            <a:off x="488998" y="1460184"/>
            <a:ext cx="11314573" cy="5262979"/>
          </a:xfrm>
          <a:prstGeom prst="rect">
            <a:avLst/>
          </a:prstGeom>
          <a:noFill/>
          <a:ln>
            <a:noFill/>
          </a:ln>
        </p:spPr>
        <p:txBody>
          <a:bodyPr anchorCtr="0" anchor="ctr" bIns="45700" lIns="91425" spcFirstLastPara="1" rIns="91425" wrap="square" tIns="45700">
            <a:spAutoFit/>
          </a:bodyPr>
          <a:lstStyle/>
          <a:p>
            <a:pPr indent="-342900" lvl="0" marL="342900" marR="0" rtl="0" algn="l">
              <a:spcBef>
                <a:spcPts val="0"/>
              </a:spcBef>
              <a:spcAft>
                <a:spcPts val="0"/>
              </a:spcAft>
              <a:buClr>
                <a:schemeClr val="dk1"/>
              </a:buClr>
              <a:buSzPts val="2400"/>
              <a:buFont typeface="Arial"/>
              <a:buChar char="•"/>
            </a:pPr>
            <a:r>
              <a:rPr lang="en-US" sz="2400">
                <a:solidFill>
                  <a:schemeClr val="dk1"/>
                </a:solidFill>
                <a:latin typeface="Times New Roman"/>
                <a:ea typeface="Times New Roman"/>
                <a:cs typeface="Times New Roman"/>
                <a:sym typeface="Times New Roman"/>
              </a:rPr>
              <a:t>K. Reddy and P. Singh, “Smart Emergency Response System using LSTM and GRU Models,” International Journal of Engineering Research &amp; Technology (IJERT), 2025.</a:t>
            </a:r>
            <a:endParaRPr/>
          </a:p>
          <a:p>
            <a:pPr indent="-190500" lvl="0" marL="342900" marR="0" rtl="0" algn="l">
              <a:spcBef>
                <a:spcPts val="0"/>
              </a:spcBef>
              <a:spcAft>
                <a:spcPts val="0"/>
              </a:spcAft>
              <a:buClr>
                <a:schemeClr val="dk1"/>
              </a:buClr>
              <a:buSzPts val="2400"/>
              <a:buFont typeface="Arial"/>
              <a:buNone/>
            </a:pPr>
            <a:r>
              <a:t/>
            </a:r>
            <a:endParaRPr sz="2400">
              <a:solidFill>
                <a:schemeClr val="dk1"/>
              </a:solidFill>
              <a:latin typeface="Times New Roman"/>
              <a:ea typeface="Times New Roman"/>
              <a:cs typeface="Times New Roman"/>
              <a:sym typeface="Times New Roman"/>
            </a:endParaRPr>
          </a:p>
          <a:p>
            <a:pPr indent="-342900" lvl="0" marL="342900" marR="0" rtl="0" algn="l">
              <a:spcBef>
                <a:spcPts val="0"/>
              </a:spcBef>
              <a:spcAft>
                <a:spcPts val="0"/>
              </a:spcAft>
              <a:buClr>
                <a:schemeClr val="dk1"/>
              </a:buClr>
              <a:buSzPts val="2400"/>
              <a:buFont typeface="Arial"/>
              <a:buChar char="•"/>
            </a:pPr>
            <a:r>
              <a:rPr lang="en-US" sz="2400">
                <a:solidFill>
                  <a:schemeClr val="dk1"/>
                </a:solidFill>
                <a:latin typeface="Times New Roman"/>
                <a:ea typeface="Times New Roman"/>
                <a:cs typeface="Times New Roman"/>
                <a:sym typeface="Times New Roman"/>
              </a:rPr>
              <a:t>R. Kumar, “Deep Learning-Based Emergency Resource Allocation using LSTM Networks,” International Journal of Computer Applications, 2024.</a:t>
            </a:r>
            <a:endParaRPr/>
          </a:p>
          <a:p>
            <a:pPr indent="-190500" lvl="0" marL="342900" marR="0" rtl="0" algn="l">
              <a:spcBef>
                <a:spcPts val="0"/>
              </a:spcBef>
              <a:spcAft>
                <a:spcPts val="0"/>
              </a:spcAft>
              <a:buClr>
                <a:schemeClr val="dk1"/>
              </a:buClr>
              <a:buSzPts val="2400"/>
              <a:buFont typeface="Arial"/>
              <a:buNone/>
            </a:pPr>
            <a:r>
              <a:t/>
            </a:r>
            <a:endParaRPr sz="2400">
              <a:solidFill>
                <a:schemeClr val="dk1"/>
              </a:solidFill>
              <a:latin typeface="Times New Roman"/>
              <a:ea typeface="Times New Roman"/>
              <a:cs typeface="Times New Roman"/>
              <a:sym typeface="Times New Roman"/>
            </a:endParaRPr>
          </a:p>
          <a:p>
            <a:pPr indent="-342900" lvl="0" marL="342900" marR="0" rtl="0" algn="l">
              <a:spcBef>
                <a:spcPts val="0"/>
              </a:spcBef>
              <a:spcAft>
                <a:spcPts val="0"/>
              </a:spcAft>
              <a:buClr>
                <a:schemeClr val="dk1"/>
              </a:buClr>
              <a:buSzPts val="2400"/>
              <a:buFont typeface="Arial"/>
              <a:buChar char="•"/>
            </a:pPr>
            <a:r>
              <a:rPr lang="en-US" sz="2400">
                <a:solidFill>
                  <a:schemeClr val="dk1"/>
                </a:solidFill>
                <a:latin typeface="Times New Roman"/>
                <a:ea typeface="Times New Roman"/>
                <a:cs typeface="Times New Roman"/>
                <a:sym typeface="Times New Roman"/>
              </a:rPr>
              <a:t>S. Patel and A. Mehta, “Real-Time Disaster Response System using IoT and Machine Learning,” International Journal of Scientific Research in Computer Science, 2024.</a:t>
            </a:r>
            <a:endParaRPr/>
          </a:p>
          <a:p>
            <a:pPr indent="-190500" lvl="0" marL="342900" marR="0" rtl="0" algn="l">
              <a:spcBef>
                <a:spcPts val="0"/>
              </a:spcBef>
              <a:spcAft>
                <a:spcPts val="0"/>
              </a:spcAft>
              <a:buClr>
                <a:schemeClr val="dk1"/>
              </a:buClr>
              <a:buSzPts val="2400"/>
              <a:buFont typeface="Arial"/>
              <a:buNone/>
            </a:pPr>
            <a:r>
              <a:t/>
            </a:r>
            <a:endParaRPr sz="2400">
              <a:solidFill>
                <a:schemeClr val="dk1"/>
              </a:solidFill>
              <a:latin typeface="Times New Roman"/>
              <a:ea typeface="Times New Roman"/>
              <a:cs typeface="Times New Roman"/>
              <a:sym typeface="Times New Roman"/>
            </a:endParaRPr>
          </a:p>
          <a:p>
            <a:pPr indent="-342900" lvl="0" marL="342900" marR="0" rtl="0" algn="l">
              <a:spcBef>
                <a:spcPts val="0"/>
              </a:spcBef>
              <a:spcAft>
                <a:spcPts val="0"/>
              </a:spcAft>
              <a:buClr>
                <a:schemeClr val="dk1"/>
              </a:buClr>
              <a:buSzPts val="2400"/>
              <a:buFont typeface="Arial"/>
              <a:buChar char="•"/>
            </a:pPr>
            <a:r>
              <a:rPr lang="en-US" sz="2400">
                <a:solidFill>
                  <a:schemeClr val="dk1"/>
                </a:solidFill>
                <a:latin typeface="Times New Roman"/>
                <a:ea typeface="Times New Roman"/>
                <a:cs typeface="Times New Roman"/>
                <a:sym typeface="Times New Roman"/>
              </a:rPr>
              <a:t>A. Sharma, “IoT-Based Inventory Monitoring System for Emergency Management,” International Journal of Advanced Technology, 2024.</a:t>
            </a:r>
            <a:endParaRPr/>
          </a:p>
          <a:p>
            <a:pPr indent="-190500" lvl="0" marL="342900" marR="0" rtl="0" algn="l">
              <a:spcBef>
                <a:spcPts val="0"/>
              </a:spcBef>
              <a:spcAft>
                <a:spcPts val="0"/>
              </a:spcAft>
              <a:buClr>
                <a:schemeClr val="dk1"/>
              </a:buClr>
              <a:buSzPts val="2400"/>
              <a:buFont typeface="Arial"/>
              <a:buNone/>
            </a:pPr>
            <a:r>
              <a:t/>
            </a:r>
            <a:endParaRPr sz="2400">
              <a:solidFill>
                <a:schemeClr val="dk1"/>
              </a:solidFill>
              <a:latin typeface="Times New Roman"/>
              <a:ea typeface="Times New Roman"/>
              <a:cs typeface="Times New Roman"/>
              <a:sym typeface="Times New Roman"/>
            </a:endParaRPr>
          </a:p>
          <a:p>
            <a:pPr indent="-342900" lvl="0" marL="342900" marR="0" rtl="0" algn="l">
              <a:spcBef>
                <a:spcPts val="0"/>
              </a:spcBef>
              <a:spcAft>
                <a:spcPts val="0"/>
              </a:spcAft>
              <a:buClr>
                <a:schemeClr val="dk1"/>
              </a:buClr>
              <a:buSzPts val="2400"/>
              <a:buFont typeface="Arial"/>
              <a:buChar char="•"/>
            </a:pPr>
            <a:r>
              <a:rPr lang="en-US" sz="2400">
                <a:solidFill>
                  <a:schemeClr val="dk1"/>
                </a:solidFill>
                <a:latin typeface="Times New Roman"/>
                <a:ea typeface="Times New Roman"/>
                <a:cs typeface="Times New Roman"/>
                <a:sym typeface="Times New Roman"/>
              </a:rPr>
              <a:t>D. Roy and S. Banerjee, “Optimizing Emergency Resource Allocation using AI and Cloud-Based Systems,” International Journal of Cloud Computing, 2024.</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pic>
        <p:nvPicPr>
          <p:cNvPr descr="Flat Thank You Slide Template for PowerPoint" id="258" name="Google Shape;258;p21"/>
          <p:cNvPicPr preferRelativeResize="0"/>
          <p:nvPr/>
        </p:nvPicPr>
        <p:blipFill rotWithShape="1">
          <a:blip r:embed="rId3">
            <a:alphaModFix/>
          </a:blip>
          <a:srcRect b="0" l="0" r="0" t="0"/>
          <a:stretch/>
        </p:blipFill>
        <p:spPr>
          <a:xfrm>
            <a:off x="0" y="0"/>
            <a:ext cx="12192000" cy="68580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2026-04-29T14:55:27Z</dcterms:created>
  <dc:creator>SHANNU KARANAM</dc:creator>
</cp:coreProperties>
</file>